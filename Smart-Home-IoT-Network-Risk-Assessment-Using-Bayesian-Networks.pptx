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05" r:id="rId5"/>
    <p:sldId id="288" r:id="rId6"/>
    <p:sldId id="280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76" r:id="rId15"/>
    <p:sldId id="296" r:id="rId16"/>
    <p:sldId id="297" r:id="rId17"/>
    <p:sldId id="298" r:id="rId18"/>
    <p:sldId id="299" r:id="rId19"/>
    <p:sldId id="300" r:id="rId20"/>
    <p:sldId id="302" r:id="rId21"/>
    <p:sldId id="303" r:id="rId22"/>
    <p:sldId id="304" r:id="rId23"/>
    <p:sldId id="28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82" d="100"/>
          <a:sy n="82" d="100"/>
        </p:scale>
        <p:origin x="720" y="96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E305A-8A53-CD51-20A8-E51657F4E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8C686-9BD5-8541-1A24-99FEC4DCC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0F107-C23B-913A-46A3-FB1B2037D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FE8EF-03D6-37C1-AAF2-70EE92A67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605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A4814-F48C-DC31-17A7-6981078C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AC888-E12B-1630-EB03-329EDDAB6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9210B-945A-649C-93FD-20558CAB7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65330-36D0-2602-2DCC-9E2E54394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015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F7807-2AAC-F4F5-F466-34B532FA2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D1110-4849-542D-4706-6B95BE676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BCB5E-FFB5-86A2-F0C2-B218FF082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2D78F-771E-4EDD-4417-F7848373E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481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397D-3C49-D148-A55A-CA134214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392D0-F5CA-7129-7381-D2501DAF8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1EF90-9D7D-6B73-7C1F-D21268991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B88DE-76CA-A359-3BEB-093E4FFDC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560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FABD-5143-ED71-84B4-7502215E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A9180-F7E7-427D-9573-51DFEF8E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021F1-7B97-16F8-292A-3A3B982B0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A376F-54B1-3892-5159-B90DC2598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580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1F1F6-AA36-5243-B4B5-075C25352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F3E94-3DE1-D180-6D50-5FB4D5F6E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9F8A9-44D4-CD66-5BD2-D9B237F11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D760E-5A50-4ECA-3F33-F0D7403F0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285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4C128-6E23-FB8A-7B85-A19955F1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88B14-2E3B-A987-CB92-B39859148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DFA02-3068-D4DB-CB5E-1DC0E89C8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0C56D-B543-CF61-4D80-546961B07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207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F9E8D-B7E9-AD60-AD3F-C29E6FF1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FAFE7-D4CC-A367-82E7-AA31FF54F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79DC6-2D3C-040C-19F2-E8930A39F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2FDAE-05FA-8F8A-B876-45C3F0D79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642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adibhaskaruni/Smart-Home-IoT-Network-Risk-Assessment-Using-Bayesian-Networks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441C0-B77B-EB5F-919D-5293EB94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D88AE685-9AEF-0339-CC4A-E33089F63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7005" y="-1056119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2B9D59-130C-D6F5-BC20-5788B563F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9944" y="-2302589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2FA4D3-C2C1-CC74-5553-31C880338EAE}"/>
              </a:ext>
            </a:extLst>
          </p:cNvPr>
          <p:cNvSpPr txBox="1">
            <a:spLocks/>
          </p:cNvSpPr>
          <p:nvPr/>
        </p:nvSpPr>
        <p:spPr>
          <a:xfrm>
            <a:off x="927205" y="1713906"/>
            <a:ext cx="10206964" cy="9971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Berlin Sans FB" panose="020E0602020502020306" pitchFamily="34" charset="0"/>
              </a:rPr>
              <a:t>Smart Home IoT Network Risk Assessment</a:t>
            </a:r>
          </a:p>
          <a:p>
            <a:r>
              <a:rPr lang="en-US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Berlin Sans FB" panose="020E0602020502020306" pitchFamily="34" charset="0"/>
              </a:rPr>
              <a:t> Using Bayesian Networks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959BF0-E32A-3AAA-2F72-E1F82FA02A9A}"/>
              </a:ext>
            </a:extLst>
          </p:cNvPr>
          <p:cNvSpPr txBox="1"/>
          <p:nvPr/>
        </p:nvSpPr>
        <p:spPr>
          <a:xfrm>
            <a:off x="2535594" y="3111466"/>
            <a:ext cx="74481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latin typeface="+mj-lt"/>
              </a:rPr>
              <a:t>A Python implementation demonstrating the methodology for assessing security risks in a Smart Home IoT network using a Bayesian Network (BN), based on the research paper: "Smart Home IoT Network Risk Assessment Using Bayesian Networks"</a:t>
            </a:r>
            <a:endParaRPr lang="en-US" sz="1800" dirty="0">
              <a:solidFill>
                <a:schemeClr val="bg1"/>
              </a:solidFill>
              <a:latin typeface="+mj-lt"/>
              <a:ea typeface="Calibri Light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71EABD-911F-28BE-7094-E29117B9A29A}"/>
              </a:ext>
            </a:extLst>
          </p:cNvPr>
          <p:cNvSpPr txBox="1"/>
          <p:nvPr/>
        </p:nvSpPr>
        <p:spPr>
          <a:xfrm>
            <a:off x="417546" y="4820928"/>
            <a:ext cx="41451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 </a:t>
            </a:r>
            <a:r>
              <a:rPr lang="en-US" b="1" i="1" dirty="0">
                <a:solidFill>
                  <a:srgbClr val="F0F6FC"/>
                </a:solidFill>
                <a:effectLst/>
                <a:latin typeface="-apple-system"/>
              </a:rPr>
              <a:t>Authors :       </a:t>
            </a:r>
            <a:r>
              <a:rPr lang="en-US" b="0" i="1" dirty="0">
                <a:solidFill>
                  <a:srgbClr val="F0F6FC"/>
                </a:solidFill>
                <a:effectLst/>
                <a:latin typeface="-apple-system"/>
              </a:rPr>
              <a:t>Miguel Flores,</a:t>
            </a:r>
          </a:p>
          <a:p>
            <a:r>
              <a:rPr lang="en-US" i="1" dirty="0">
                <a:solidFill>
                  <a:srgbClr val="F0F6FC"/>
                </a:solidFill>
                <a:latin typeface="-apple-system"/>
              </a:rPr>
              <a:t>               </a:t>
            </a:r>
            <a:r>
              <a:rPr lang="en-US" b="0" i="1" dirty="0">
                <a:solidFill>
                  <a:srgbClr val="F0F6FC"/>
                </a:solidFill>
                <a:effectLst/>
                <a:latin typeface="-apple-system"/>
              </a:rPr>
              <a:t>        Diego Heredia, </a:t>
            </a:r>
          </a:p>
          <a:p>
            <a:r>
              <a:rPr lang="en-US" i="1" dirty="0">
                <a:solidFill>
                  <a:srgbClr val="F0F6FC"/>
                </a:solidFill>
                <a:latin typeface="-apple-system"/>
              </a:rPr>
              <a:t>                       </a:t>
            </a:r>
            <a:r>
              <a:rPr lang="en-US" b="0" i="1" dirty="0">
                <a:solidFill>
                  <a:srgbClr val="F0F6FC"/>
                </a:solidFill>
                <a:effectLst/>
                <a:latin typeface="-apple-system"/>
              </a:rPr>
              <a:t>Roberto Andrade, </a:t>
            </a:r>
          </a:p>
          <a:p>
            <a:r>
              <a:rPr lang="en-US" i="1" dirty="0">
                <a:solidFill>
                  <a:srgbClr val="F0F6FC"/>
                </a:solidFill>
                <a:latin typeface="-apple-system"/>
              </a:rPr>
              <a:t>                       </a:t>
            </a:r>
            <a:r>
              <a:rPr lang="en-US" b="0" i="1" dirty="0">
                <a:solidFill>
                  <a:srgbClr val="F0F6FC"/>
                </a:solidFill>
                <a:effectLst/>
                <a:latin typeface="-apple-system"/>
              </a:rPr>
              <a:t>Mariam Ibrahim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 </a:t>
            </a:r>
          </a:p>
          <a:p>
            <a:endParaRPr lang="en-US" b="0" i="0" dirty="0">
              <a:solidFill>
                <a:srgbClr val="F0F6FC"/>
              </a:solidFill>
              <a:effectLst/>
              <a:latin typeface="-apple-system"/>
            </a:endParaRPr>
          </a:p>
          <a:p>
            <a:r>
              <a:rPr lang="en-US" b="1" i="1" dirty="0">
                <a:solidFill>
                  <a:srgbClr val="F0F6FC"/>
                </a:solidFill>
                <a:effectLst/>
                <a:latin typeface="-apple-system"/>
              </a:rPr>
              <a:t>Publication : </a:t>
            </a:r>
            <a:r>
              <a:rPr lang="en-US" b="0" i="1" dirty="0">
                <a:solidFill>
                  <a:srgbClr val="F0F6FC"/>
                </a:solidFill>
                <a:effectLst/>
                <a:latin typeface="-apple-system"/>
              </a:rPr>
              <a:t>Entropy 2022, 24, 668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1B5656-58E7-82C7-ABED-8B81C1ADE32A}"/>
              </a:ext>
            </a:extLst>
          </p:cNvPr>
          <p:cNvSpPr txBox="1"/>
          <p:nvPr/>
        </p:nvSpPr>
        <p:spPr>
          <a:xfrm>
            <a:off x="6445122" y="5026205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Presented By   :    </a:t>
            </a:r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Aadi Bhaskaruni</a:t>
            </a:r>
          </a:p>
          <a:p>
            <a:r>
              <a:rPr lang="en-US" dirty="0">
                <a:solidFill>
                  <a:srgbClr val="F0F6FC"/>
                </a:solidFill>
                <a:latin typeface="-apple-system"/>
              </a:rPr>
              <a:t>                                Department Of CSE(Artificial Intelligence)</a:t>
            </a:r>
          </a:p>
          <a:p>
            <a:r>
              <a:rPr lang="en-US" dirty="0">
                <a:solidFill>
                  <a:srgbClr val="F0F6FC"/>
                </a:solidFill>
                <a:latin typeface="-apple-system"/>
              </a:rPr>
              <a:t>                                Amrita School Of Computing,</a:t>
            </a:r>
          </a:p>
          <a:p>
            <a:r>
              <a:rPr lang="en-US" dirty="0">
                <a:solidFill>
                  <a:srgbClr val="F0F6FC"/>
                </a:solidFill>
                <a:latin typeface="-apple-system"/>
              </a:rPr>
              <a:t>                                Amrita Vishwa Vidyapeetham</a:t>
            </a:r>
          </a:p>
        </p:txBody>
      </p:sp>
    </p:spTree>
    <p:extLst>
      <p:ext uri="{BB962C8B-B14F-4D97-AF65-F5344CB8AC3E}">
        <p14:creationId xmlns:p14="http://schemas.microsoft.com/office/powerpoint/2010/main" val="61526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E45096-8971-25C3-0FB4-92CE50C15EF1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4431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/>
              <a:t>Introduction &amp; Motivation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ED3898-3CDD-99D2-2F21-12802D8D7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3813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EA2DD1-80D7-02C5-207C-84F0F245F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63000" y="550891"/>
            <a:ext cx="386753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EBED30C0-97A5-8CEE-D560-344191DE2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1" y="1512243"/>
            <a:ext cx="10753724" cy="501675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+mj-lt"/>
              </a:rPr>
              <a:t>The Rise of IoT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Rapid growth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Smart Home IoT networks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(interconnected devices,</a:t>
            </a:r>
            <a:endParaRPr lang="en-US" altLang="en-US" sz="20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                   e.g., smart lights, cameras).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</a:rPr>
              <a:t>The Security Problem </a:t>
            </a:r>
            <a:r>
              <a:rPr lang="en-US" altLang="en-US" sz="2000" b="1" dirty="0">
                <a:latin typeface="+mj-lt"/>
              </a:rPr>
              <a:t>: </a:t>
            </a:r>
            <a:r>
              <a:rPr lang="en-US" altLang="en-US" sz="2000" dirty="0">
                <a:latin typeface="+mj-lt"/>
              </a:rPr>
              <a:t>High interconnectivity and device heterogeneity (e.g., varied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+mj-lt"/>
              </a:rPr>
              <a:t>                                       authentication mechanisms) create a </a:t>
            </a:r>
            <a:r>
              <a:rPr lang="en-US" altLang="en-US" sz="2000" b="1" dirty="0">
                <a:latin typeface="+mj-lt"/>
              </a:rPr>
              <a:t>large attack surface</a:t>
            </a:r>
            <a:r>
              <a:rPr lang="en-US" altLang="en-US" sz="2000" dirty="0"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+mj-lt"/>
              </a:rPr>
              <a:t>Consequence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Increased susceptibility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cyber attacks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leading to potential privacy</a:t>
            </a:r>
            <a:endParaRPr lang="en-US" altLang="en-US" sz="20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                    breaches and economic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+mj-lt"/>
              </a:rPr>
              <a:t>Need for Assessment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Traditional security models are often insufficient; a robust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+mj-lt"/>
              </a:rPr>
              <a:t>                                  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probabilistic risk assessment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is necessary.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116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30464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Research Objective</a:t>
            </a:r>
            <a:b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ircle: Hollow 2">
            <a:extLst>
              <a:ext uri="{FF2B5EF4-FFF2-40B4-BE49-F238E27FC236}">
                <a16:creationId xmlns:a16="http://schemas.microsoft.com/office/drawing/2014/main" id="{8DC8DEBA-4D8D-4704-A04E-32A1E0BF4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646" y="3109450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A838DD0B-E018-44D0-A4C0-13DF2FD02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821" y="1867406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4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B5265A05-9A0F-4DEC-9382-F51EEE742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16637" y="3062783"/>
            <a:ext cx="1593858" cy="1593858"/>
          </a:xfrm>
          <a:prstGeom prst="donut">
            <a:avLst>
              <a:gd name="adj" fmla="val 12255"/>
            </a:avLst>
          </a:prstGeom>
          <a:solidFill>
            <a:schemeClr val="accent3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1" name="Group 40" descr="Icon of human being and speech bubble. ">
            <a:extLst>
              <a:ext uri="{FF2B5EF4-FFF2-40B4-BE49-F238E27FC236}">
                <a16:creationId xmlns:a16="http://schemas.microsoft.com/office/drawing/2014/main" id="{F9B9D0B7-66BB-408F-A1CC-EA2209284AAD}"/>
              </a:ext>
            </a:extLst>
          </p:cNvPr>
          <p:cNvGrpSpPr/>
          <p:nvPr/>
        </p:nvGrpSpPr>
        <p:grpSpPr>
          <a:xfrm>
            <a:off x="1667179" y="2413081"/>
            <a:ext cx="378221" cy="380335"/>
            <a:chOff x="3171788" y="779462"/>
            <a:chExt cx="284163" cy="285751"/>
          </a:xfrm>
          <a:solidFill>
            <a:schemeClr val="accent3">
              <a:lumMod val="75000"/>
            </a:schemeClr>
          </a:solidFill>
        </p:grpSpPr>
        <p:sp>
          <p:nvSpPr>
            <p:cNvPr id="42" name="Freeform 2993">
              <a:extLst>
                <a:ext uri="{FF2B5EF4-FFF2-40B4-BE49-F238E27FC236}">
                  <a16:creationId xmlns:a16="http://schemas.microsoft.com/office/drawing/2014/main" id="{214A5167-4E01-4042-851A-88AFE72AE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2994">
              <a:extLst>
                <a:ext uri="{FF2B5EF4-FFF2-40B4-BE49-F238E27FC236}">
                  <a16:creationId xmlns:a16="http://schemas.microsoft.com/office/drawing/2014/main" id="{EF3D2201-62FC-4C65-ADA0-327F68113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0" name="Freeform 1671" descr="Icon of check mark. ">
            <a:extLst>
              <a:ext uri="{FF2B5EF4-FFF2-40B4-BE49-F238E27FC236}">
                <a16:creationId xmlns:a16="http://schemas.microsoft.com/office/drawing/2014/main" id="{1A4AFC64-5C16-40F4-BDFA-E62EE3AAEA23}"/>
              </a:ext>
            </a:extLst>
          </p:cNvPr>
          <p:cNvSpPr>
            <a:spLocks noEditPoints="1"/>
          </p:cNvSpPr>
          <p:nvPr/>
        </p:nvSpPr>
        <p:spPr bwMode="auto">
          <a:xfrm>
            <a:off x="968004" y="3707591"/>
            <a:ext cx="380334" cy="380334"/>
          </a:xfrm>
          <a:custGeom>
            <a:avLst/>
            <a:gdLst>
              <a:gd name="T0" fmla="*/ 279 w 719"/>
              <a:gd name="T1" fmla="*/ 477 h 719"/>
              <a:gd name="T2" fmla="*/ 197 w 719"/>
              <a:gd name="T3" fmla="*/ 387 h 719"/>
              <a:gd name="T4" fmla="*/ 217 w 719"/>
              <a:gd name="T5" fmla="*/ 382 h 719"/>
              <a:gd name="T6" fmla="*/ 515 w 719"/>
              <a:gd name="T7" fmla="*/ 243 h 719"/>
              <a:gd name="T8" fmla="*/ 519 w 719"/>
              <a:gd name="T9" fmla="*/ 263 h 719"/>
              <a:gd name="T10" fmla="*/ 709 w 719"/>
              <a:gd name="T11" fmla="*/ 323 h 719"/>
              <a:gd name="T12" fmla="*/ 687 w 719"/>
              <a:gd name="T13" fmla="*/ 289 h 719"/>
              <a:gd name="T14" fmla="*/ 696 w 719"/>
              <a:gd name="T15" fmla="*/ 243 h 719"/>
              <a:gd name="T16" fmla="*/ 675 w 719"/>
              <a:gd name="T17" fmla="*/ 199 h 719"/>
              <a:gd name="T18" fmla="*/ 631 w 719"/>
              <a:gd name="T19" fmla="*/ 179 h 719"/>
              <a:gd name="T20" fmla="*/ 630 w 719"/>
              <a:gd name="T21" fmla="*/ 131 h 719"/>
              <a:gd name="T22" fmla="*/ 603 w 719"/>
              <a:gd name="T23" fmla="*/ 98 h 719"/>
              <a:gd name="T24" fmla="*/ 569 w 719"/>
              <a:gd name="T25" fmla="*/ 87 h 719"/>
              <a:gd name="T26" fmla="*/ 536 w 719"/>
              <a:gd name="T27" fmla="*/ 70 h 719"/>
              <a:gd name="T28" fmla="*/ 507 w 719"/>
              <a:gd name="T29" fmla="*/ 34 h 719"/>
              <a:gd name="T30" fmla="*/ 458 w 719"/>
              <a:gd name="T31" fmla="*/ 25 h 719"/>
              <a:gd name="T32" fmla="*/ 418 w 719"/>
              <a:gd name="T33" fmla="*/ 31 h 719"/>
              <a:gd name="T34" fmla="*/ 380 w 719"/>
              <a:gd name="T35" fmla="*/ 4 h 719"/>
              <a:gd name="T36" fmla="*/ 331 w 719"/>
              <a:gd name="T37" fmla="*/ 7 h 719"/>
              <a:gd name="T38" fmla="*/ 296 w 719"/>
              <a:gd name="T39" fmla="*/ 39 h 719"/>
              <a:gd name="T40" fmla="*/ 251 w 719"/>
              <a:gd name="T41" fmla="*/ 24 h 719"/>
              <a:gd name="T42" fmla="*/ 205 w 719"/>
              <a:gd name="T43" fmla="*/ 39 h 719"/>
              <a:gd name="T44" fmla="*/ 180 w 719"/>
              <a:gd name="T45" fmla="*/ 79 h 719"/>
              <a:gd name="T46" fmla="*/ 142 w 719"/>
              <a:gd name="T47" fmla="*/ 88 h 719"/>
              <a:gd name="T48" fmla="*/ 111 w 719"/>
              <a:gd name="T49" fmla="*/ 102 h 719"/>
              <a:gd name="T50" fmla="*/ 86 w 719"/>
              <a:gd name="T51" fmla="*/ 141 h 719"/>
              <a:gd name="T52" fmla="*/ 78 w 719"/>
              <a:gd name="T53" fmla="*/ 180 h 719"/>
              <a:gd name="T54" fmla="*/ 37 w 719"/>
              <a:gd name="T55" fmla="*/ 207 h 719"/>
              <a:gd name="T56" fmla="*/ 22 w 719"/>
              <a:gd name="T57" fmla="*/ 252 h 719"/>
              <a:gd name="T58" fmla="*/ 38 w 719"/>
              <a:gd name="T59" fmla="*/ 296 h 719"/>
              <a:gd name="T60" fmla="*/ 6 w 719"/>
              <a:gd name="T61" fmla="*/ 332 h 719"/>
              <a:gd name="T62" fmla="*/ 3 w 719"/>
              <a:gd name="T63" fmla="*/ 380 h 719"/>
              <a:gd name="T64" fmla="*/ 31 w 719"/>
              <a:gd name="T65" fmla="*/ 420 h 719"/>
              <a:gd name="T66" fmla="*/ 23 w 719"/>
              <a:gd name="T67" fmla="*/ 460 h 719"/>
              <a:gd name="T68" fmla="*/ 32 w 719"/>
              <a:gd name="T69" fmla="*/ 507 h 719"/>
              <a:gd name="T70" fmla="*/ 68 w 719"/>
              <a:gd name="T71" fmla="*/ 538 h 719"/>
              <a:gd name="T72" fmla="*/ 85 w 719"/>
              <a:gd name="T73" fmla="*/ 571 h 719"/>
              <a:gd name="T74" fmla="*/ 106 w 719"/>
              <a:gd name="T75" fmla="*/ 615 h 719"/>
              <a:gd name="T76" fmla="*/ 135 w 719"/>
              <a:gd name="T77" fmla="*/ 633 h 719"/>
              <a:gd name="T78" fmla="*/ 177 w 719"/>
              <a:gd name="T79" fmla="*/ 633 h 719"/>
              <a:gd name="T80" fmla="*/ 197 w 719"/>
              <a:gd name="T81" fmla="*/ 676 h 719"/>
              <a:gd name="T82" fmla="*/ 242 w 719"/>
              <a:gd name="T83" fmla="*/ 698 h 719"/>
              <a:gd name="T84" fmla="*/ 288 w 719"/>
              <a:gd name="T85" fmla="*/ 687 h 719"/>
              <a:gd name="T86" fmla="*/ 322 w 719"/>
              <a:gd name="T87" fmla="*/ 709 h 719"/>
              <a:gd name="T88" fmla="*/ 370 w 719"/>
              <a:gd name="T89" fmla="*/ 719 h 719"/>
              <a:gd name="T90" fmla="*/ 412 w 719"/>
              <a:gd name="T91" fmla="*/ 697 h 719"/>
              <a:gd name="T92" fmla="*/ 449 w 719"/>
              <a:gd name="T93" fmla="*/ 695 h 719"/>
              <a:gd name="T94" fmla="*/ 497 w 719"/>
              <a:gd name="T95" fmla="*/ 693 h 719"/>
              <a:gd name="T96" fmla="*/ 533 w 719"/>
              <a:gd name="T97" fmla="*/ 661 h 719"/>
              <a:gd name="T98" fmla="*/ 563 w 719"/>
              <a:gd name="T99" fmla="*/ 635 h 719"/>
              <a:gd name="T100" fmla="*/ 597 w 719"/>
              <a:gd name="T101" fmla="*/ 628 h 719"/>
              <a:gd name="T102" fmla="*/ 626 w 719"/>
              <a:gd name="T103" fmla="*/ 599 h 719"/>
              <a:gd name="T104" fmla="*/ 634 w 719"/>
              <a:gd name="T105" fmla="*/ 551 h 719"/>
              <a:gd name="T106" fmla="*/ 668 w 719"/>
              <a:gd name="T107" fmla="*/ 528 h 719"/>
              <a:gd name="T108" fmla="*/ 694 w 719"/>
              <a:gd name="T109" fmla="*/ 488 h 719"/>
              <a:gd name="T110" fmla="*/ 691 w 719"/>
              <a:gd name="T111" fmla="*/ 441 h 719"/>
              <a:gd name="T112" fmla="*/ 703 w 719"/>
              <a:gd name="T113" fmla="*/ 406 h 719"/>
              <a:gd name="T114" fmla="*/ 719 w 719"/>
              <a:gd name="T115" fmla="*/ 360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719" h="719">
                <a:moveTo>
                  <a:pt x="519" y="263"/>
                </a:moveTo>
                <a:lnTo>
                  <a:pt x="292" y="475"/>
                </a:lnTo>
                <a:lnTo>
                  <a:pt x="288" y="477"/>
                </a:lnTo>
                <a:lnTo>
                  <a:pt x="285" y="479"/>
                </a:lnTo>
                <a:lnTo>
                  <a:pt x="279" y="477"/>
                </a:lnTo>
                <a:lnTo>
                  <a:pt x="276" y="475"/>
                </a:lnTo>
                <a:lnTo>
                  <a:pt x="200" y="400"/>
                </a:lnTo>
                <a:lnTo>
                  <a:pt x="197" y="396"/>
                </a:lnTo>
                <a:lnTo>
                  <a:pt x="196" y="391"/>
                </a:lnTo>
                <a:lnTo>
                  <a:pt x="197" y="387"/>
                </a:lnTo>
                <a:lnTo>
                  <a:pt x="200" y="382"/>
                </a:lnTo>
                <a:lnTo>
                  <a:pt x="204" y="380"/>
                </a:lnTo>
                <a:lnTo>
                  <a:pt x="208" y="379"/>
                </a:lnTo>
                <a:lnTo>
                  <a:pt x="213" y="380"/>
                </a:lnTo>
                <a:lnTo>
                  <a:pt x="217" y="382"/>
                </a:lnTo>
                <a:lnTo>
                  <a:pt x="285" y="450"/>
                </a:lnTo>
                <a:lnTo>
                  <a:pt x="502" y="247"/>
                </a:lnTo>
                <a:lnTo>
                  <a:pt x="507" y="243"/>
                </a:lnTo>
                <a:lnTo>
                  <a:pt x="511" y="243"/>
                </a:lnTo>
                <a:lnTo>
                  <a:pt x="515" y="243"/>
                </a:lnTo>
                <a:lnTo>
                  <a:pt x="520" y="247"/>
                </a:lnTo>
                <a:lnTo>
                  <a:pt x="522" y="251"/>
                </a:lnTo>
                <a:lnTo>
                  <a:pt x="523" y="255"/>
                </a:lnTo>
                <a:lnTo>
                  <a:pt x="522" y="260"/>
                </a:lnTo>
                <a:lnTo>
                  <a:pt x="519" y="263"/>
                </a:lnTo>
                <a:close/>
                <a:moveTo>
                  <a:pt x="719" y="360"/>
                </a:moveTo>
                <a:lnTo>
                  <a:pt x="719" y="350"/>
                </a:lnTo>
                <a:lnTo>
                  <a:pt x="716" y="341"/>
                </a:lnTo>
                <a:lnTo>
                  <a:pt x="713" y="332"/>
                </a:lnTo>
                <a:lnTo>
                  <a:pt x="709" y="323"/>
                </a:lnTo>
                <a:lnTo>
                  <a:pt x="703" y="315"/>
                </a:lnTo>
                <a:lnTo>
                  <a:pt x="696" y="308"/>
                </a:lnTo>
                <a:lnTo>
                  <a:pt x="689" y="302"/>
                </a:lnTo>
                <a:lnTo>
                  <a:pt x="681" y="296"/>
                </a:lnTo>
                <a:lnTo>
                  <a:pt x="687" y="289"/>
                </a:lnTo>
                <a:lnTo>
                  <a:pt x="691" y="280"/>
                </a:lnTo>
                <a:lnTo>
                  <a:pt x="694" y="271"/>
                </a:lnTo>
                <a:lnTo>
                  <a:pt x="696" y="262"/>
                </a:lnTo>
                <a:lnTo>
                  <a:pt x="696" y="252"/>
                </a:lnTo>
                <a:lnTo>
                  <a:pt x="696" y="243"/>
                </a:lnTo>
                <a:lnTo>
                  <a:pt x="694" y="233"/>
                </a:lnTo>
                <a:lnTo>
                  <a:pt x="692" y="223"/>
                </a:lnTo>
                <a:lnTo>
                  <a:pt x="688" y="215"/>
                </a:lnTo>
                <a:lnTo>
                  <a:pt x="682" y="207"/>
                </a:lnTo>
                <a:lnTo>
                  <a:pt x="675" y="199"/>
                </a:lnTo>
                <a:lnTo>
                  <a:pt x="668" y="193"/>
                </a:lnTo>
                <a:lnTo>
                  <a:pt x="660" y="188"/>
                </a:lnTo>
                <a:lnTo>
                  <a:pt x="651" y="184"/>
                </a:lnTo>
                <a:lnTo>
                  <a:pt x="641" y="180"/>
                </a:lnTo>
                <a:lnTo>
                  <a:pt x="631" y="179"/>
                </a:lnTo>
                <a:lnTo>
                  <a:pt x="634" y="169"/>
                </a:lnTo>
                <a:lnTo>
                  <a:pt x="635" y="161"/>
                </a:lnTo>
                <a:lnTo>
                  <a:pt x="635" y="151"/>
                </a:lnTo>
                <a:lnTo>
                  <a:pt x="632" y="141"/>
                </a:lnTo>
                <a:lnTo>
                  <a:pt x="630" y="131"/>
                </a:lnTo>
                <a:lnTo>
                  <a:pt x="626" y="122"/>
                </a:lnTo>
                <a:lnTo>
                  <a:pt x="620" y="114"/>
                </a:lnTo>
                <a:lnTo>
                  <a:pt x="614" y="106"/>
                </a:lnTo>
                <a:lnTo>
                  <a:pt x="608" y="102"/>
                </a:lnTo>
                <a:lnTo>
                  <a:pt x="603" y="98"/>
                </a:lnTo>
                <a:lnTo>
                  <a:pt x="597" y="94"/>
                </a:lnTo>
                <a:lnTo>
                  <a:pt x="590" y="91"/>
                </a:lnTo>
                <a:lnTo>
                  <a:pt x="584" y="89"/>
                </a:lnTo>
                <a:lnTo>
                  <a:pt x="577" y="88"/>
                </a:lnTo>
                <a:lnTo>
                  <a:pt x="569" y="87"/>
                </a:lnTo>
                <a:lnTo>
                  <a:pt x="563" y="85"/>
                </a:lnTo>
                <a:lnTo>
                  <a:pt x="552" y="87"/>
                </a:lnTo>
                <a:lnTo>
                  <a:pt x="542" y="89"/>
                </a:lnTo>
                <a:lnTo>
                  <a:pt x="540" y="79"/>
                </a:lnTo>
                <a:lnTo>
                  <a:pt x="536" y="70"/>
                </a:lnTo>
                <a:lnTo>
                  <a:pt x="533" y="61"/>
                </a:lnTo>
                <a:lnTo>
                  <a:pt x="528" y="53"/>
                </a:lnTo>
                <a:lnTo>
                  <a:pt x="522" y="46"/>
                </a:lnTo>
                <a:lnTo>
                  <a:pt x="514" y="39"/>
                </a:lnTo>
                <a:lnTo>
                  <a:pt x="507" y="34"/>
                </a:lnTo>
                <a:lnTo>
                  <a:pt x="497" y="28"/>
                </a:lnTo>
                <a:lnTo>
                  <a:pt x="488" y="26"/>
                </a:lnTo>
                <a:lnTo>
                  <a:pt x="478" y="24"/>
                </a:lnTo>
                <a:lnTo>
                  <a:pt x="468" y="24"/>
                </a:lnTo>
                <a:lnTo>
                  <a:pt x="458" y="25"/>
                </a:lnTo>
                <a:lnTo>
                  <a:pt x="449" y="27"/>
                </a:lnTo>
                <a:lnTo>
                  <a:pt x="440" y="29"/>
                </a:lnTo>
                <a:lnTo>
                  <a:pt x="431" y="34"/>
                </a:lnTo>
                <a:lnTo>
                  <a:pt x="424" y="39"/>
                </a:lnTo>
                <a:lnTo>
                  <a:pt x="418" y="31"/>
                </a:lnTo>
                <a:lnTo>
                  <a:pt x="412" y="24"/>
                </a:lnTo>
                <a:lnTo>
                  <a:pt x="405" y="17"/>
                </a:lnTo>
                <a:lnTo>
                  <a:pt x="397" y="11"/>
                </a:lnTo>
                <a:lnTo>
                  <a:pt x="388" y="7"/>
                </a:lnTo>
                <a:lnTo>
                  <a:pt x="380" y="4"/>
                </a:lnTo>
                <a:lnTo>
                  <a:pt x="370" y="2"/>
                </a:lnTo>
                <a:lnTo>
                  <a:pt x="360" y="0"/>
                </a:lnTo>
                <a:lnTo>
                  <a:pt x="350" y="2"/>
                </a:lnTo>
                <a:lnTo>
                  <a:pt x="340" y="4"/>
                </a:lnTo>
                <a:lnTo>
                  <a:pt x="331" y="7"/>
                </a:lnTo>
                <a:lnTo>
                  <a:pt x="322" y="11"/>
                </a:lnTo>
                <a:lnTo>
                  <a:pt x="314" y="17"/>
                </a:lnTo>
                <a:lnTo>
                  <a:pt x="307" y="24"/>
                </a:lnTo>
                <a:lnTo>
                  <a:pt x="301" y="31"/>
                </a:lnTo>
                <a:lnTo>
                  <a:pt x="296" y="39"/>
                </a:lnTo>
                <a:lnTo>
                  <a:pt x="288" y="34"/>
                </a:lnTo>
                <a:lnTo>
                  <a:pt x="279" y="29"/>
                </a:lnTo>
                <a:lnTo>
                  <a:pt x="270" y="27"/>
                </a:lnTo>
                <a:lnTo>
                  <a:pt x="260" y="25"/>
                </a:lnTo>
                <a:lnTo>
                  <a:pt x="251" y="24"/>
                </a:lnTo>
                <a:lnTo>
                  <a:pt x="242" y="24"/>
                </a:lnTo>
                <a:lnTo>
                  <a:pt x="232" y="26"/>
                </a:lnTo>
                <a:lnTo>
                  <a:pt x="222" y="28"/>
                </a:lnTo>
                <a:lnTo>
                  <a:pt x="213" y="34"/>
                </a:lnTo>
                <a:lnTo>
                  <a:pt x="205" y="39"/>
                </a:lnTo>
                <a:lnTo>
                  <a:pt x="197" y="46"/>
                </a:lnTo>
                <a:lnTo>
                  <a:pt x="192" y="52"/>
                </a:lnTo>
                <a:lnTo>
                  <a:pt x="186" y="61"/>
                </a:lnTo>
                <a:lnTo>
                  <a:pt x="182" y="69"/>
                </a:lnTo>
                <a:lnTo>
                  <a:pt x="180" y="79"/>
                </a:lnTo>
                <a:lnTo>
                  <a:pt x="177" y="89"/>
                </a:lnTo>
                <a:lnTo>
                  <a:pt x="168" y="87"/>
                </a:lnTo>
                <a:lnTo>
                  <a:pt x="156" y="85"/>
                </a:lnTo>
                <a:lnTo>
                  <a:pt x="149" y="87"/>
                </a:lnTo>
                <a:lnTo>
                  <a:pt x="142" y="88"/>
                </a:lnTo>
                <a:lnTo>
                  <a:pt x="135" y="89"/>
                </a:lnTo>
                <a:lnTo>
                  <a:pt x="129" y="91"/>
                </a:lnTo>
                <a:lnTo>
                  <a:pt x="122" y="94"/>
                </a:lnTo>
                <a:lnTo>
                  <a:pt x="117" y="98"/>
                </a:lnTo>
                <a:lnTo>
                  <a:pt x="111" y="102"/>
                </a:lnTo>
                <a:lnTo>
                  <a:pt x="106" y="106"/>
                </a:lnTo>
                <a:lnTo>
                  <a:pt x="99" y="114"/>
                </a:lnTo>
                <a:lnTo>
                  <a:pt x="94" y="122"/>
                </a:lnTo>
                <a:lnTo>
                  <a:pt x="89" y="131"/>
                </a:lnTo>
                <a:lnTo>
                  <a:pt x="86" y="141"/>
                </a:lnTo>
                <a:lnTo>
                  <a:pt x="85" y="151"/>
                </a:lnTo>
                <a:lnTo>
                  <a:pt x="85" y="161"/>
                </a:lnTo>
                <a:lnTo>
                  <a:pt x="85" y="169"/>
                </a:lnTo>
                <a:lnTo>
                  <a:pt x="87" y="179"/>
                </a:lnTo>
                <a:lnTo>
                  <a:pt x="78" y="180"/>
                </a:lnTo>
                <a:lnTo>
                  <a:pt x="68" y="184"/>
                </a:lnTo>
                <a:lnTo>
                  <a:pt x="59" y="188"/>
                </a:lnTo>
                <a:lnTo>
                  <a:pt x="52" y="193"/>
                </a:lnTo>
                <a:lnTo>
                  <a:pt x="44" y="199"/>
                </a:lnTo>
                <a:lnTo>
                  <a:pt x="37" y="207"/>
                </a:lnTo>
                <a:lnTo>
                  <a:pt x="32" y="215"/>
                </a:lnTo>
                <a:lnTo>
                  <a:pt x="27" y="223"/>
                </a:lnTo>
                <a:lnTo>
                  <a:pt x="24" y="233"/>
                </a:lnTo>
                <a:lnTo>
                  <a:pt x="23" y="243"/>
                </a:lnTo>
                <a:lnTo>
                  <a:pt x="22" y="252"/>
                </a:lnTo>
                <a:lnTo>
                  <a:pt x="23" y="262"/>
                </a:lnTo>
                <a:lnTo>
                  <a:pt x="25" y="271"/>
                </a:lnTo>
                <a:lnTo>
                  <a:pt x="28" y="280"/>
                </a:lnTo>
                <a:lnTo>
                  <a:pt x="33" y="289"/>
                </a:lnTo>
                <a:lnTo>
                  <a:pt x="38" y="296"/>
                </a:lnTo>
                <a:lnTo>
                  <a:pt x="31" y="302"/>
                </a:lnTo>
                <a:lnTo>
                  <a:pt x="23" y="308"/>
                </a:lnTo>
                <a:lnTo>
                  <a:pt x="16" y="315"/>
                </a:lnTo>
                <a:lnTo>
                  <a:pt x="11" y="323"/>
                </a:lnTo>
                <a:lnTo>
                  <a:pt x="6" y="332"/>
                </a:lnTo>
                <a:lnTo>
                  <a:pt x="3" y="341"/>
                </a:lnTo>
                <a:lnTo>
                  <a:pt x="1" y="350"/>
                </a:lnTo>
                <a:lnTo>
                  <a:pt x="0" y="360"/>
                </a:lnTo>
                <a:lnTo>
                  <a:pt x="1" y="370"/>
                </a:lnTo>
                <a:lnTo>
                  <a:pt x="3" y="380"/>
                </a:lnTo>
                <a:lnTo>
                  <a:pt x="6" y="389"/>
                </a:lnTo>
                <a:lnTo>
                  <a:pt x="11" y="398"/>
                </a:lnTo>
                <a:lnTo>
                  <a:pt x="16" y="406"/>
                </a:lnTo>
                <a:lnTo>
                  <a:pt x="23" y="413"/>
                </a:lnTo>
                <a:lnTo>
                  <a:pt x="31" y="420"/>
                </a:lnTo>
                <a:lnTo>
                  <a:pt x="38" y="424"/>
                </a:lnTo>
                <a:lnTo>
                  <a:pt x="33" y="433"/>
                </a:lnTo>
                <a:lnTo>
                  <a:pt x="28" y="441"/>
                </a:lnTo>
                <a:lnTo>
                  <a:pt x="25" y="450"/>
                </a:lnTo>
                <a:lnTo>
                  <a:pt x="23" y="460"/>
                </a:lnTo>
                <a:lnTo>
                  <a:pt x="22" y="470"/>
                </a:lnTo>
                <a:lnTo>
                  <a:pt x="23" y="479"/>
                </a:lnTo>
                <a:lnTo>
                  <a:pt x="24" y="488"/>
                </a:lnTo>
                <a:lnTo>
                  <a:pt x="27" y="498"/>
                </a:lnTo>
                <a:lnTo>
                  <a:pt x="32" y="507"/>
                </a:lnTo>
                <a:lnTo>
                  <a:pt x="37" y="515"/>
                </a:lnTo>
                <a:lnTo>
                  <a:pt x="44" y="523"/>
                </a:lnTo>
                <a:lnTo>
                  <a:pt x="52" y="528"/>
                </a:lnTo>
                <a:lnTo>
                  <a:pt x="59" y="534"/>
                </a:lnTo>
                <a:lnTo>
                  <a:pt x="68" y="538"/>
                </a:lnTo>
                <a:lnTo>
                  <a:pt x="78" y="540"/>
                </a:lnTo>
                <a:lnTo>
                  <a:pt x="87" y="543"/>
                </a:lnTo>
                <a:lnTo>
                  <a:pt x="85" y="551"/>
                </a:lnTo>
                <a:lnTo>
                  <a:pt x="85" y="561"/>
                </a:lnTo>
                <a:lnTo>
                  <a:pt x="85" y="571"/>
                </a:lnTo>
                <a:lnTo>
                  <a:pt x="86" y="580"/>
                </a:lnTo>
                <a:lnTo>
                  <a:pt x="89" y="590"/>
                </a:lnTo>
                <a:lnTo>
                  <a:pt x="94" y="599"/>
                </a:lnTo>
                <a:lnTo>
                  <a:pt x="99" y="608"/>
                </a:lnTo>
                <a:lnTo>
                  <a:pt x="106" y="615"/>
                </a:lnTo>
                <a:lnTo>
                  <a:pt x="111" y="620"/>
                </a:lnTo>
                <a:lnTo>
                  <a:pt x="117" y="624"/>
                </a:lnTo>
                <a:lnTo>
                  <a:pt x="122" y="628"/>
                </a:lnTo>
                <a:lnTo>
                  <a:pt x="129" y="631"/>
                </a:lnTo>
                <a:lnTo>
                  <a:pt x="135" y="633"/>
                </a:lnTo>
                <a:lnTo>
                  <a:pt x="142" y="634"/>
                </a:lnTo>
                <a:lnTo>
                  <a:pt x="149" y="635"/>
                </a:lnTo>
                <a:lnTo>
                  <a:pt x="156" y="635"/>
                </a:lnTo>
                <a:lnTo>
                  <a:pt x="168" y="635"/>
                </a:lnTo>
                <a:lnTo>
                  <a:pt x="177" y="633"/>
                </a:lnTo>
                <a:lnTo>
                  <a:pt x="180" y="643"/>
                </a:lnTo>
                <a:lnTo>
                  <a:pt x="182" y="652"/>
                </a:lnTo>
                <a:lnTo>
                  <a:pt x="186" y="661"/>
                </a:lnTo>
                <a:lnTo>
                  <a:pt x="192" y="668"/>
                </a:lnTo>
                <a:lnTo>
                  <a:pt x="197" y="676"/>
                </a:lnTo>
                <a:lnTo>
                  <a:pt x="205" y="683"/>
                </a:lnTo>
                <a:lnTo>
                  <a:pt x="213" y="688"/>
                </a:lnTo>
                <a:lnTo>
                  <a:pt x="222" y="693"/>
                </a:lnTo>
                <a:lnTo>
                  <a:pt x="232" y="696"/>
                </a:lnTo>
                <a:lnTo>
                  <a:pt x="242" y="698"/>
                </a:lnTo>
                <a:lnTo>
                  <a:pt x="251" y="698"/>
                </a:lnTo>
                <a:lnTo>
                  <a:pt x="260" y="697"/>
                </a:lnTo>
                <a:lnTo>
                  <a:pt x="270" y="695"/>
                </a:lnTo>
                <a:lnTo>
                  <a:pt x="279" y="692"/>
                </a:lnTo>
                <a:lnTo>
                  <a:pt x="288" y="687"/>
                </a:lnTo>
                <a:lnTo>
                  <a:pt x="296" y="682"/>
                </a:lnTo>
                <a:lnTo>
                  <a:pt x="301" y="689"/>
                </a:lnTo>
                <a:lnTo>
                  <a:pt x="307" y="697"/>
                </a:lnTo>
                <a:lnTo>
                  <a:pt x="314" y="704"/>
                </a:lnTo>
                <a:lnTo>
                  <a:pt x="322" y="709"/>
                </a:lnTo>
                <a:lnTo>
                  <a:pt x="331" y="714"/>
                </a:lnTo>
                <a:lnTo>
                  <a:pt x="340" y="717"/>
                </a:lnTo>
                <a:lnTo>
                  <a:pt x="350" y="719"/>
                </a:lnTo>
                <a:lnTo>
                  <a:pt x="360" y="719"/>
                </a:lnTo>
                <a:lnTo>
                  <a:pt x="370" y="719"/>
                </a:lnTo>
                <a:lnTo>
                  <a:pt x="380" y="717"/>
                </a:lnTo>
                <a:lnTo>
                  <a:pt x="388" y="714"/>
                </a:lnTo>
                <a:lnTo>
                  <a:pt x="397" y="709"/>
                </a:lnTo>
                <a:lnTo>
                  <a:pt x="405" y="704"/>
                </a:lnTo>
                <a:lnTo>
                  <a:pt x="412" y="697"/>
                </a:lnTo>
                <a:lnTo>
                  <a:pt x="418" y="689"/>
                </a:lnTo>
                <a:lnTo>
                  <a:pt x="424" y="682"/>
                </a:lnTo>
                <a:lnTo>
                  <a:pt x="431" y="687"/>
                </a:lnTo>
                <a:lnTo>
                  <a:pt x="440" y="692"/>
                </a:lnTo>
                <a:lnTo>
                  <a:pt x="449" y="695"/>
                </a:lnTo>
                <a:lnTo>
                  <a:pt x="458" y="697"/>
                </a:lnTo>
                <a:lnTo>
                  <a:pt x="468" y="698"/>
                </a:lnTo>
                <a:lnTo>
                  <a:pt x="478" y="698"/>
                </a:lnTo>
                <a:lnTo>
                  <a:pt x="488" y="696"/>
                </a:lnTo>
                <a:lnTo>
                  <a:pt x="497" y="693"/>
                </a:lnTo>
                <a:lnTo>
                  <a:pt x="507" y="688"/>
                </a:lnTo>
                <a:lnTo>
                  <a:pt x="514" y="683"/>
                </a:lnTo>
                <a:lnTo>
                  <a:pt x="522" y="676"/>
                </a:lnTo>
                <a:lnTo>
                  <a:pt x="528" y="668"/>
                </a:lnTo>
                <a:lnTo>
                  <a:pt x="533" y="661"/>
                </a:lnTo>
                <a:lnTo>
                  <a:pt x="536" y="652"/>
                </a:lnTo>
                <a:lnTo>
                  <a:pt x="540" y="643"/>
                </a:lnTo>
                <a:lnTo>
                  <a:pt x="541" y="633"/>
                </a:lnTo>
                <a:lnTo>
                  <a:pt x="552" y="635"/>
                </a:lnTo>
                <a:lnTo>
                  <a:pt x="563" y="635"/>
                </a:lnTo>
                <a:lnTo>
                  <a:pt x="569" y="635"/>
                </a:lnTo>
                <a:lnTo>
                  <a:pt x="577" y="634"/>
                </a:lnTo>
                <a:lnTo>
                  <a:pt x="584" y="633"/>
                </a:lnTo>
                <a:lnTo>
                  <a:pt x="590" y="631"/>
                </a:lnTo>
                <a:lnTo>
                  <a:pt x="597" y="628"/>
                </a:lnTo>
                <a:lnTo>
                  <a:pt x="603" y="624"/>
                </a:lnTo>
                <a:lnTo>
                  <a:pt x="608" y="620"/>
                </a:lnTo>
                <a:lnTo>
                  <a:pt x="614" y="615"/>
                </a:lnTo>
                <a:lnTo>
                  <a:pt x="620" y="608"/>
                </a:lnTo>
                <a:lnTo>
                  <a:pt x="626" y="599"/>
                </a:lnTo>
                <a:lnTo>
                  <a:pt x="630" y="590"/>
                </a:lnTo>
                <a:lnTo>
                  <a:pt x="632" y="580"/>
                </a:lnTo>
                <a:lnTo>
                  <a:pt x="635" y="571"/>
                </a:lnTo>
                <a:lnTo>
                  <a:pt x="635" y="561"/>
                </a:lnTo>
                <a:lnTo>
                  <a:pt x="634" y="551"/>
                </a:lnTo>
                <a:lnTo>
                  <a:pt x="631" y="543"/>
                </a:lnTo>
                <a:lnTo>
                  <a:pt x="641" y="540"/>
                </a:lnTo>
                <a:lnTo>
                  <a:pt x="651" y="538"/>
                </a:lnTo>
                <a:lnTo>
                  <a:pt x="660" y="534"/>
                </a:lnTo>
                <a:lnTo>
                  <a:pt x="668" y="528"/>
                </a:lnTo>
                <a:lnTo>
                  <a:pt x="675" y="523"/>
                </a:lnTo>
                <a:lnTo>
                  <a:pt x="682" y="515"/>
                </a:lnTo>
                <a:lnTo>
                  <a:pt x="688" y="507"/>
                </a:lnTo>
                <a:lnTo>
                  <a:pt x="692" y="498"/>
                </a:lnTo>
                <a:lnTo>
                  <a:pt x="694" y="488"/>
                </a:lnTo>
                <a:lnTo>
                  <a:pt x="696" y="479"/>
                </a:lnTo>
                <a:lnTo>
                  <a:pt x="698" y="470"/>
                </a:lnTo>
                <a:lnTo>
                  <a:pt x="696" y="460"/>
                </a:lnTo>
                <a:lnTo>
                  <a:pt x="694" y="450"/>
                </a:lnTo>
                <a:lnTo>
                  <a:pt x="691" y="441"/>
                </a:lnTo>
                <a:lnTo>
                  <a:pt x="687" y="433"/>
                </a:lnTo>
                <a:lnTo>
                  <a:pt x="681" y="424"/>
                </a:lnTo>
                <a:lnTo>
                  <a:pt x="689" y="420"/>
                </a:lnTo>
                <a:lnTo>
                  <a:pt x="696" y="413"/>
                </a:lnTo>
                <a:lnTo>
                  <a:pt x="703" y="406"/>
                </a:lnTo>
                <a:lnTo>
                  <a:pt x="709" y="398"/>
                </a:lnTo>
                <a:lnTo>
                  <a:pt x="713" y="389"/>
                </a:lnTo>
                <a:lnTo>
                  <a:pt x="716" y="380"/>
                </a:lnTo>
                <a:lnTo>
                  <a:pt x="719" y="370"/>
                </a:lnTo>
                <a:lnTo>
                  <a:pt x="719" y="36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Freeform 3886" descr="Icon of magnifying glass to represent search. ">
            <a:extLst>
              <a:ext uri="{FF2B5EF4-FFF2-40B4-BE49-F238E27FC236}">
                <a16:creationId xmlns:a16="http://schemas.microsoft.com/office/drawing/2014/main" id="{EC8E95A8-22FE-44FA-B5A6-2AA2D47A5BB3}"/>
              </a:ext>
            </a:extLst>
          </p:cNvPr>
          <p:cNvSpPr>
            <a:spLocks noEditPoints="1"/>
          </p:cNvSpPr>
          <p:nvPr/>
        </p:nvSpPr>
        <p:spPr bwMode="auto">
          <a:xfrm>
            <a:off x="2375688" y="3706871"/>
            <a:ext cx="382447" cy="380334"/>
          </a:xfrm>
          <a:custGeom>
            <a:avLst/>
            <a:gdLst>
              <a:gd name="T0" fmla="*/ 268 w 902"/>
              <a:gd name="T1" fmla="*/ 575 h 901"/>
              <a:gd name="T2" fmla="*/ 207 w 902"/>
              <a:gd name="T3" fmla="*/ 555 h 901"/>
              <a:gd name="T4" fmla="*/ 155 w 902"/>
              <a:gd name="T5" fmla="*/ 520 h 901"/>
              <a:gd name="T6" fmla="*/ 112 w 902"/>
              <a:gd name="T7" fmla="*/ 475 h 901"/>
              <a:gd name="T8" fmla="*/ 81 w 902"/>
              <a:gd name="T9" fmla="*/ 422 h 901"/>
              <a:gd name="T10" fmla="*/ 64 w 902"/>
              <a:gd name="T11" fmla="*/ 360 h 901"/>
              <a:gd name="T12" fmla="*/ 61 w 902"/>
              <a:gd name="T13" fmla="*/ 294 h 901"/>
              <a:gd name="T14" fmla="*/ 76 w 902"/>
              <a:gd name="T15" fmla="*/ 231 h 901"/>
              <a:gd name="T16" fmla="*/ 104 w 902"/>
              <a:gd name="T17" fmla="*/ 175 h 901"/>
              <a:gd name="T18" fmla="*/ 145 w 902"/>
              <a:gd name="T19" fmla="*/ 128 h 901"/>
              <a:gd name="T20" fmla="*/ 197 w 902"/>
              <a:gd name="T21" fmla="*/ 92 h 901"/>
              <a:gd name="T22" fmla="*/ 256 w 902"/>
              <a:gd name="T23" fmla="*/ 69 h 901"/>
              <a:gd name="T24" fmla="*/ 320 w 902"/>
              <a:gd name="T25" fmla="*/ 60 h 901"/>
              <a:gd name="T26" fmla="*/ 385 w 902"/>
              <a:gd name="T27" fmla="*/ 69 h 901"/>
              <a:gd name="T28" fmla="*/ 444 w 902"/>
              <a:gd name="T29" fmla="*/ 92 h 901"/>
              <a:gd name="T30" fmla="*/ 495 w 902"/>
              <a:gd name="T31" fmla="*/ 128 h 901"/>
              <a:gd name="T32" fmla="*/ 537 w 902"/>
              <a:gd name="T33" fmla="*/ 175 h 901"/>
              <a:gd name="T34" fmla="*/ 564 w 902"/>
              <a:gd name="T35" fmla="*/ 231 h 901"/>
              <a:gd name="T36" fmla="*/ 579 w 902"/>
              <a:gd name="T37" fmla="*/ 294 h 901"/>
              <a:gd name="T38" fmla="*/ 577 w 902"/>
              <a:gd name="T39" fmla="*/ 360 h 901"/>
              <a:gd name="T40" fmla="*/ 560 w 902"/>
              <a:gd name="T41" fmla="*/ 422 h 901"/>
              <a:gd name="T42" fmla="*/ 529 w 902"/>
              <a:gd name="T43" fmla="*/ 475 h 901"/>
              <a:gd name="T44" fmla="*/ 486 w 902"/>
              <a:gd name="T45" fmla="*/ 520 h 901"/>
              <a:gd name="T46" fmla="*/ 432 w 902"/>
              <a:gd name="T47" fmla="*/ 555 h 901"/>
              <a:gd name="T48" fmla="*/ 372 w 902"/>
              <a:gd name="T49" fmla="*/ 575 h 901"/>
              <a:gd name="T50" fmla="*/ 320 w 902"/>
              <a:gd name="T51" fmla="*/ 580 h 901"/>
              <a:gd name="T52" fmla="*/ 591 w 902"/>
              <a:gd name="T53" fmla="*/ 491 h 901"/>
              <a:gd name="T54" fmla="*/ 621 w 902"/>
              <a:gd name="T55" fmla="*/ 430 h 901"/>
              <a:gd name="T56" fmla="*/ 637 w 902"/>
              <a:gd name="T57" fmla="*/ 363 h 901"/>
              <a:gd name="T58" fmla="*/ 638 w 902"/>
              <a:gd name="T59" fmla="*/ 288 h 901"/>
              <a:gd name="T60" fmla="*/ 621 w 902"/>
              <a:gd name="T61" fmla="*/ 211 h 901"/>
              <a:gd name="T62" fmla="*/ 586 w 902"/>
              <a:gd name="T63" fmla="*/ 142 h 901"/>
              <a:gd name="T64" fmla="*/ 535 w 902"/>
              <a:gd name="T65" fmla="*/ 83 h 901"/>
              <a:gd name="T66" fmla="*/ 473 w 902"/>
              <a:gd name="T67" fmla="*/ 39 h 901"/>
              <a:gd name="T68" fmla="*/ 400 w 902"/>
              <a:gd name="T69" fmla="*/ 10 h 901"/>
              <a:gd name="T70" fmla="*/ 320 w 902"/>
              <a:gd name="T71" fmla="*/ 0 h 901"/>
              <a:gd name="T72" fmla="*/ 241 w 902"/>
              <a:gd name="T73" fmla="*/ 10 h 901"/>
              <a:gd name="T74" fmla="*/ 168 w 902"/>
              <a:gd name="T75" fmla="*/ 39 h 901"/>
              <a:gd name="T76" fmla="*/ 105 w 902"/>
              <a:gd name="T77" fmla="*/ 83 h 901"/>
              <a:gd name="T78" fmla="*/ 55 w 902"/>
              <a:gd name="T79" fmla="*/ 142 h 901"/>
              <a:gd name="T80" fmla="*/ 20 w 902"/>
              <a:gd name="T81" fmla="*/ 211 h 901"/>
              <a:gd name="T82" fmla="*/ 1 w 902"/>
              <a:gd name="T83" fmla="*/ 288 h 901"/>
              <a:gd name="T84" fmla="*/ 3 w 902"/>
              <a:gd name="T85" fmla="*/ 369 h 901"/>
              <a:gd name="T86" fmla="*/ 25 w 902"/>
              <a:gd name="T87" fmla="*/ 445 h 901"/>
              <a:gd name="T88" fmla="*/ 64 w 902"/>
              <a:gd name="T89" fmla="*/ 512 h 901"/>
              <a:gd name="T90" fmla="*/ 117 w 902"/>
              <a:gd name="T91" fmla="*/ 568 h 901"/>
              <a:gd name="T92" fmla="*/ 182 w 902"/>
              <a:gd name="T93" fmla="*/ 608 h 901"/>
              <a:gd name="T94" fmla="*/ 256 w 902"/>
              <a:gd name="T95" fmla="*/ 634 h 901"/>
              <a:gd name="T96" fmla="*/ 335 w 902"/>
              <a:gd name="T97" fmla="*/ 641 h 901"/>
              <a:gd name="T98" fmla="*/ 405 w 902"/>
              <a:gd name="T99" fmla="*/ 630 h 901"/>
              <a:gd name="T100" fmla="*/ 468 w 902"/>
              <a:gd name="T101" fmla="*/ 604 h 901"/>
              <a:gd name="T102" fmla="*/ 525 w 902"/>
              <a:gd name="T103" fmla="*/ 567 h 901"/>
              <a:gd name="T104" fmla="*/ 871 w 902"/>
              <a:gd name="T105" fmla="*/ 901 h 901"/>
              <a:gd name="T106" fmla="*/ 897 w 902"/>
              <a:gd name="T107" fmla="*/ 888 h 901"/>
              <a:gd name="T108" fmla="*/ 899 w 902"/>
              <a:gd name="T109" fmla="*/ 860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02" h="901">
                <a:moveTo>
                  <a:pt x="320" y="580"/>
                </a:moveTo>
                <a:lnTo>
                  <a:pt x="307" y="580"/>
                </a:lnTo>
                <a:lnTo>
                  <a:pt x="294" y="579"/>
                </a:lnTo>
                <a:lnTo>
                  <a:pt x="281" y="577"/>
                </a:lnTo>
                <a:lnTo>
                  <a:pt x="268" y="575"/>
                </a:lnTo>
                <a:lnTo>
                  <a:pt x="256" y="572"/>
                </a:lnTo>
                <a:lnTo>
                  <a:pt x="243" y="569"/>
                </a:lnTo>
                <a:lnTo>
                  <a:pt x="231" y="564"/>
                </a:lnTo>
                <a:lnTo>
                  <a:pt x="219" y="560"/>
                </a:lnTo>
                <a:lnTo>
                  <a:pt x="207" y="555"/>
                </a:lnTo>
                <a:lnTo>
                  <a:pt x="197" y="549"/>
                </a:lnTo>
                <a:lnTo>
                  <a:pt x="186" y="543"/>
                </a:lnTo>
                <a:lnTo>
                  <a:pt x="175" y="535"/>
                </a:lnTo>
                <a:lnTo>
                  <a:pt x="164" y="529"/>
                </a:lnTo>
                <a:lnTo>
                  <a:pt x="155" y="520"/>
                </a:lnTo>
                <a:lnTo>
                  <a:pt x="145" y="513"/>
                </a:lnTo>
                <a:lnTo>
                  <a:pt x="136" y="504"/>
                </a:lnTo>
                <a:lnTo>
                  <a:pt x="128" y="495"/>
                </a:lnTo>
                <a:lnTo>
                  <a:pt x="119" y="486"/>
                </a:lnTo>
                <a:lnTo>
                  <a:pt x="112" y="475"/>
                </a:lnTo>
                <a:lnTo>
                  <a:pt x="104" y="466"/>
                </a:lnTo>
                <a:lnTo>
                  <a:pt x="98" y="455"/>
                </a:lnTo>
                <a:lnTo>
                  <a:pt x="91" y="444"/>
                </a:lnTo>
                <a:lnTo>
                  <a:pt x="86" y="432"/>
                </a:lnTo>
                <a:lnTo>
                  <a:pt x="81" y="422"/>
                </a:lnTo>
                <a:lnTo>
                  <a:pt x="76" y="410"/>
                </a:lnTo>
                <a:lnTo>
                  <a:pt x="72" y="397"/>
                </a:lnTo>
                <a:lnTo>
                  <a:pt x="69" y="385"/>
                </a:lnTo>
                <a:lnTo>
                  <a:pt x="66" y="372"/>
                </a:lnTo>
                <a:lnTo>
                  <a:pt x="64" y="360"/>
                </a:lnTo>
                <a:lnTo>
                  <a:pt x="61" y="347"/>
                </a:lnTo>
                <a:lnTo>
                  <a:pt x="60" y="334"/>
                </a:lnTo>
                <a:lnTo>
                  <a:pt x="60" y="320"/>
                </a:lnTo>
                <a:lnTo>
                  <a:pt x="60" y="307"/>
                </a:lnTo>
                <a:lnTo>
                  <a:pt x="61" y="294"/>
                </a:lnTo>
                <a:lnTo>
                  <a:pt x="64" y="281"/>
                </a:lnTo>
                <a:lnTo>
                  <a:pt x="66" y="268"/>
                </a:lnTo>
                <a:lnTo>
                  <a:pt x="69" y="256"/>
                </a:lnTo>
                <a:lnTo>
                  <a:pt x="72" y="243"/>
                </a:lnTo>
                <a:lnTo>
                  <a:pt x="76" y="231"/>
                </a:lnTo>
                <a:lnTo>
                  <a:pt x="81" y="219"/>
                </a:lnTo>
                <a:lnTo>
                  <a:pt x="86" y="207"/>
                </a:lnTo>
                <a:lnTo>
                  <a:pt x="91" y="197"/>
                </a:lnTo>
                <a:lnTo>
                  <a:pt x="98" y="186"/>
                </a:lnTo>
                <a:lnTo>
                  <a:pt x="104" y="175"/>
                </a:lnTo>
                <a:lnTo>
                  <a:pt x="112" y="164"/>
                </a:lnTo>
                <a:lnTo>
                  <a:pt x="119" y="155"/>
                </a:lnTo>
                <a:lnTo>
                  <a:pt x="128" y="145"/>
                </a:lnTo>
                <a:lnTo>
                  <a:pt x="136" y="137"/>
                </a:lnTo>
                <a:lnTo>
                  <a:pt x="145" y="128"/>
                </a:lnTo>
                <a:lnTo>
                  <a:pt x="155" y="119"/>
                </a:lnTo>
                <a:lnTo>
                  <a:pt x="164" y="112"/>
                </a:lnTo>
                <a:lnTo>
                  <a:pt x="175" y="104"/>
                </a:lnTo>
                <a:lnTo>
                  <a:pt x="186" y="98"/>
                </a:lnTo>
                <a:lnTo>
                  <a:pt x="197" y="92"/>
                </a:lnTo>
                <a:lnTo>
                  <a:pt x="207" y="86"/>
                </a:lnTo>
                <a:lnTo>
                  <a:pt x="219" y="81"/>
                </a:lnTo>
                <a:lnTo>
                  <a:pt x="231" y="77"/>
                </a:lnTo>
                <a:lnTo>
                  <a:pt x="243" y="72"/>
                </a:lnTo>
                <a:lnTo>
                  <a:pt x="256" y="69"/>
                </a:lnTo>
                <a:lnTo>
                  <a:pt x="268" y="66"/>
                </a:lnTo>
                <a:lnTo>
                  <a:pt x="281" y="64"/>
                </a:lnTo>
                <a:lnTo>
                  <a:pt x="294" y="61"/>
                </a:lnTo>
                <a:lnTo>
                  <a:pt x="307" y="60"/>
                </a:lnTo>
                <a:lnTo>
                  <a:pt x="320" y="60"/>
                </a:lnTo>
                <a:lnTo>
                  <a:pt x="334" y="60"/>
                </a:lnTo>
                <a:lnTo>
                  <a:pt x="347" y="61"/>
                </a:lnTo>
                <a:lnTo>
                  <a:pt x="360" y="64"/>
                </a:lnTo>
                <a:lnTo>
                  <a:pt x="372" y="66"/>
                </a:lnTo>
                <a:lnTo>
                  <a:pt x="385" y="69"/>
                </a:lnTo>
                <a:lnTo>
                  <a:pt x="397" y="72"/>
                </a:lnTo>
                <a:lnTo>
                  <a:pt x="410" y="77"/>
                </a:lnTo>
                <a:lnTo>
                  <a:pt x="422" y="81"/>
                </a:lnTo>
                <a:lnTo>
                  <a:pt x="432" y="86"/>
                </a:lnTo>
                <a:lnTo>
                  <a:pt x="444" y="92"/>
                </a:lnTo>
                <a:lnTo>
                  <a:pt x="455" y="98"/>
                </a:lnTo>
                <a:lnTo>
                  <a:pt x="466" y="104"/>
                </a:lnTo>
                <a:lnTo>
                  <a:pt x="475" y="112"/>
                </a:lnTo>
                <a:lnTo>
                  <a:pt x="486" y="119"/>
                </a:lnTo>
                <a:lnTo>
                  <a:pt x="495" y="128"/>
                </a:lnTo>
                <a:lnTo>
                  <a:pt x="504" y="137"/>
                </a:lnTo>
                <a:lnTo>
                  <a:pt x="513" y="145"/>
                </a:lnTo>
                <a:lnTo>
                  <a:pt x="522" y="155"/>
                </a:lnTo>
                <a:lnTo>
                  <a:pt x="529" y="164"/>
                </a:lnTo>
                <a:lnTo>
                  <a:pt x="537" y="175"/>
                </a:lnTo>
                <a:lnTo>
                  <a:pt x="543" y="186"/>
                </a:lnTo>
                <a:lnTo>
                  <a:pt x="549" y="197"/>
                </a:lnTo>
                <a:lnTo>
                  <a:pt x="555" y="207"/>
                </a:lnTo>
                <a:lnTo>
                  <a:pt x="560" y="219"/>
                </a:lnTo>
                <a:lnTo>
                  <a:pt x="564" y="231"/>
                </a:lnTo>
                <a:lnTo>
                  <a:pt x="569" y="243"/>
                </a:lnTo>
                <a:lnTo>
                  <a:pt x="572" y="256"/>
                </a:lnTo>
                <a:lnTo>
                  <a:pt x="575" y="268"/>
                </a:lnTo>
                <a:lnTo>
                  <a:pt x="577" y="281"/>
                </a:lnTo>
                <a:lnTo>
                  <a:pt x="579" y="294"/>
                </a:lnTo>
                <a:lnTo>
                  <a:pt x="580" y="307"/>
                </a:lnTo>
                <a:lnTo>
                  <a:pt x="580" y="320"/>
                </a:lnTo>
                <a:lnTo>
                  <a:pt x="580" y="334"/>
                </a:lnTo>
                <a:lnTo>
                  <a:pt x="579" y="347"/>
                </a:lnTo>
                <a:lnTo>
                  <a:pt x="577" y="360"/>
                </a:lnTo>
                <a:lnTo>
                  <a:pt x="575" y="372"/>
                </a:lnTo>
                <a:lnTo>
                  <a:pt x="572" y="385"/>
                </a:lnTo>
                <a:lnTo>
                  <a:pt x="569" y="397"/>
                </a:lnTo>
                <a:lnTo>
                  <a:pt x="564" y="410"/>
                </a:lnTo>
                <a:lnTo>
                  <a:pt x="560" y="422"/>
                </a:lnTo>
                <a:lnTo>
                  <a:pt x="555" y="432"/>
                </a:lnTo>
                <a:lnTo>
                  <a:pt x="549" y="444"/>
                </a:lnTo>
                <a:lnTo>
                  <a:pt x="543" y="455"/>
                </a:lnTo>
                <a:lnTo>
                  <a:pt x="537" y="466"/>
                </a:lnTo>
                <a:lnTo>
                  <a:pt x="529" y="475"/>
                </a:lnTo>
                <a:lnTo>
                  <a:pt x="522" y="486"/>
                </a:lnTo>
                <a:lnTo>
                  <a:pt x="513" y="495"/>
                </a:lnTo>
                <a:lnTo>
                  <a:pt x="504" y="504"/>
                </a:lnTo>
                <a:lnTo>
                  <a:pt x="495" y="513"/>
                </a:lnTo>
                <a:lnTo>
                  <a:pt x="486" y="520"/>
                </a:lnTo>
                <a:lnTo>
                  <a:pt x="475" y="529"/>
                </a:lnTo>
                <a:lnTo>
                  <a:pt x="466" y="535"/>
                </a:lnTo>
                <a:lnTo>
                  <a:pt x="455" y="543"/>
                </a:lnTo>
                <a:lnTo>
                  <a:pt x="444" y="549"/>
                </a:lnTo>
                <a:lnTo>
                  <a:pt x="432" y="555"/>
                </a:lnTo>
                <a:lnTo>
                  <a:pt x="422" y="560"/>
                </a:lnTo>
                <a:lnTo>
                  <a:pt x="410" y="564"/>
                </a:lnTo>
                <a:lnTo>
                  <a:pt x="397" y="569"/>
                </a:lnTo>
                <a:lnTo>
                  <a:pt x="385" y="572"/>
                </a:lnTo>
                <a:lnTo>
                  <a:pt x="372" y="575"/>
                </a:lnTo>
                <a:lnTo>
                  <a:pt x="360" y="577"/>
                </a:lnTo>
                <a:lnTo>
                  <a:pt x="347" y="579"/>
                </a:lnTo>
                <a:lnTo>
                  <a:pt x="334" y="580"/>
                </a:lnTo>
                <a:lnTo>
                  <a:pt x="320" y="580"/>
                </a:lnTo>
                <a:lnTo>
                  <a:pt x="320" y="580"/>
                </a:lnTo>
                <a:close/>
                <a:moveTo>
                  <a:pt x="893" y="851"/>
                </a:moveTo>
                <a:lnTo>
                  <a:pt x="567" y="525"/>
                </a:lnTo>
                <a:lnTo>
                  <a:pt x="575" y="514"/>
                </a:lnTo>
                <a:lnTo>
                  <a:pt x="584" y="503"/>
                </a:lnTo>
                <a:lnTo>
                  <a:pt x="591" y="491"/>
                </a:lnTo>
                <a:lnTo>
                  <a:pt x="598" y="480"/>
                </a:lnTo>
                <a:lnTo>
                  <a:pt x="604" y="468"/>
                </a:lnTo>
                <a:lnTo>
                  <a:pt x="611" y="456"/>
                </a:lnTo>
                <a:lnTo>
                  <a:pt x="616" y="443"/>
                </a:lnTo>
                <a:lnTo>
                  <a:pt x="621" y="430"/>
                </a:lnTo>
                <a:lnTo>
                  <a:pt x="626" y="417"/>
                </a:lnTo>
                <a:lnTo>
                  <a:pt x="630" y="405"/>
                </a:lnTo>
                <a:lnTo>
                  <a:pt x="633" y="391"/>
                </a:lnTo>
                <a:lnTo>
                  <a:pt x="635" y="377"/>
                </a:lnTo>
                <a:lnTo>
                  <a:pt x="637" y="363"/>
                </a:lnTo>
                <a:lnTo>
                  <a:pt x="639" y="349"/>
                </a:lnTo>
                <a:lnTo>
                  <a:pt x="641" y="335"/>
                </a:lnTo>
                <a:lnTo>
                  <a:pt x="641" y="320"/>
                </a:lnTo>
                <a:lnTo>
                  <a:pt x="641" y="304"/>
                </a:lnTo>
                <a:lnTo>
                  <a:pt x="638" y="288"/>
                </a:lnTo>
                <a:lnTo>
                  <a:pt x="637" y="272"/>
                </a:lnTo>
                <a:lnTo>
                  <a:pt x="634" y="256"/>
                </a:lnTo>
                <a:lnTo>
                  <a:pt x="631" y="241"/>
                </a:lnTo>
                <a:lnTo>
                  <a:pt x="627" y="226"/>
                </a:lnTo>
                <a:lnTo>
                  <a:pt x="621" y="211"/>
                </a:lnTo>
                <a:lnTo>
                  <a:pt x="616" y="196"/>
                </a:lnTo>
                <a:lnTo>
                  <a:pt x="609" y="182"/>
                </a:lnTo>
                <a:lnTo>
                  <a:pt x="602" y="168"/>
                </a:lnTo>
                <a:lnTo>
                  <a:pt x="594" y="155"/>
                </a:lnTo>
                <a:lnTo>
                  <a:pt x="586" y="142"/>
                </a:lnTo>
                <a:lnTo>
                  <a:pt x="577" y="129"/>
                </a:lnTo>
                <a:lnTo>
                  <a:pt x="568" y="117"/>
                </a:lnTo>
                <a:lnTo>
                  <a:pt x="557" y="105"/>
                </a:lnTo>
                <a:lnTo>
                  <a:pt x="546" y="94"/>
                </a:lnTo>
                <a:lnTo>
                  <a:pt x="535" y="83"/>
                </a:lnTo>
                <a:lnTo>
                  <a:pt x="524" y="73"/>
                </a:lnTo>
                <a:lnTo>
                  <a:pt x="512" y="64"/>
                </a:lnTo>
                <a:lnTo>
                  <a:pt x="499" y="55"/>
                </a:lnTo>
                <a:lnTo>
                  <a:pt x="486" y="46"/>
                </a:lnTo>
                <a:lnTo>
                  <a:pt x="473" y="39"/>
                </a:lnTo>
                <a:lnTo>
                  <a:pt x="459" y="31"/>
                </a:lnTo>
                <a:lnTo>
                  <a:pt x="445" y="25"/>
                </a:lnTo>
                <a:lnTo>
                  <a:pt x="430" y="20"/>
                </a:lnTo>
                <a:lnTo>
                  <a:pt x="415" y="14"/>
                </a:lnTo>
                <a:lnTo>
                  <a:pt x="400" y="10"/>
                </a:lnTo>
                <a:lnTo>
                  <a:pt x="385" y="7"/>
                </a:lnTo>
                <a:lnTo>
                  <a:pt x="369" y="4"/>
                </a:lnTo>
                <a:lnTo>
                  <a:pt x="353" y="1"/>
                </a:lnTo>
                <a:lnTo>
                  <a:pt x="337" y="0"/>
                </a:lnTo>
                <a:lnTo>
                  <a:pt x="320" y="0"/>
                </a:lnTo>
                <a:lnTo>
                  <a:pt x="304" y="0"/>
                </a:lnTo>
                <a:lnTo>
                  <a:pt x="288" y="1"/>
                </a:lnTo>
                <a:lnTo>
                  <a:pt x="272" y="4"/>
                </a:lnTo>
                <a:lnTo>
                  <a:pt x="256" y="7"/>
                </a:lnTo>
                <a:lnTo>
                  <a:pt x="241" y="10"/>
                </a:lnTo>
                <a:lnTo>
                  <a:pt x="225" y="14"/>
                </a:lnTo>
                <a:lnTo>
                  <a:pt x="210" y="20"/>
                </a:lnTo>
                <a:lnTo>
                  <a:pt x="195" y="25"/>
                </a:lnTo>
                <a:lnTo>
                  <a:pt x="182" y="31"/>
                </a:lnTo>
                <a:lnTo>
                  <a:pt x="168" y="39"/>
                </a:lnTo>
                <a:lnTo>
                  <a:pt x="155" y="46"/>
                </a:lnTo>
                <a:lnTo>
                  <a:pt x="142" y="55"/>
                </a:lnTo>
                <a:lnTo>
                  <a:pt x="129" y="64"/>
                </a:lnTo>
                <a:lnTo>
                  <a:pt x="117" y="73"/>
                </a:lnTo>
                <a:lnTo>
                  <a:pt x="105" y="83"/>
                </a:lnTo>
                <a:lnTo>
                  <a:pt x="94" y="94"/>
                </a:lnTo>
                <a:lnTo>
                  <a:pt x="84" y="105"/>
                </a:lnTo>
                <a:lnTo>
                  <a:pt x="73" y="117"/>
                </a:lnTo>
                <a:lnTo>
                  <a:pt x="64" y="129"/>
                </a:lnTo>
                <a:lnTo>
                  <a:pt x="55" y="142"/>
                </a:lnTo>
                <a:lnTo>
                  <a:pt x="46" y="155"/>
                </a:lnTo>
                <a:lnTo>
                  <a:pt x="39" y="168"/>
                </a:lnTo>
                <a:lnTo>
                  <a:pt x="31" y="182"/>
                </a:lnTo>
                <a:lnTo>
                  <a:pt x="25" y="196"/>
                </a:lnTo>
                <a:lnTo>
                  <a:pt x="20" y="211"/>
                </a:lnTo>
                <a:lnTo>
                  <a:pt x="14" y="226"/>
                </a:lnTo>
                <a:lnTo>
                  <a:pt x="10" y="241"/>
                </a:lnTo>
                <a:lnTo>
                  <a:pt x="7" y="256"/>
                </a:lnTo>
                <a:lnTo>
                  <a:pt x="3" y="272"/>
                </a:lnTo>
                <a:lnTo>
                  <a:pt x="1" y="288"/>
                </a:lnTo>
                <a:lnTo>
                  <a:pt x="0" y="304"/>
                </a:lnTo>
                <a:lnTo>
                  <a:pt x="0" y="320"/>
                </a:lnTo>
                <a:lnTo>
                  <a:pt x="0" y="337"/>
                </a:lnTo>
                <a:lnTo>
                  <a:pt x="1" y="353"/>
                </a:lnTo>
                <a:lnTo>
                  <a:pt x="3" y="369"/>
                </a:lnTo>
                <a:lnTo>
                  <a:pt x="7" y="385"/>
                </a:lnTo>
                <a:lnTo>
                  <a:pt x="10" y="400"/>
                </a:lnTo>
                <a:lnTo>
                  <a:pt x="14" y="415"/>
                </a:lnTo>
                <a:lnTo>
                  <a:pt x="20" y="430"/>
                </a:lnTo>
                <a:lnTo>
                  <a:pt x="25" y="445"/>
                </a:lnTo>
                <a:lnTo>
                  <a:pt x="31" y="459"/>
                </a:lnTo>
                <a:lnTo>
                  <a:pt x="39" y="473"/>
                </a:lnTo>
                <a:lnTo>
                  <a:pt x="46" y="486"/>
                </a:lnTo>
                <a:lnTo>
                  <a:pt x="55" y="499"/>
                </a:lnTo>
                <a:lnTo>
                  <a:pt x="64" y="512"/>
                </a:lnTo>
                <a:lnTo>
                  <a:pt x="73" y="524"/>
                </a:lnTo>
                <a:lnTo>
                  <a:pt x="84" y="535"/>
                </a:lnTo>
                <a:lnTo>
                  <a:pt x="94" y="546"/>
                </a:lnTo>
                <a:lnTo>
                  <a:pt x="105" y="557"/>
                </a:lnTo>
                <a:lnTo>
                  <a:pt x="117" y="568"/>
                </a:lnTo>
                <a:lnTo>
                  <a:pt x="129" y="577"/>
                </a:lnTo>
                <a:lnTo>
                  <a:pt x="142" y="586"/>
                </a:lnTo>
                <a:lnTo>
                  <a:pt x="155" y="594"/>
                </a:lnTo>
                <a:lnTo>
                  <a:pt x="168" y="602"/>
                </a:lnTo>
                <a:lnTo>
                  <a:pt x="182" y="608"/>
                </a:lnTo>
                <a:lnTo>
                  <a:pt x="195" y="615"/>
                </a:lnTo>
                <a:lnTo>
                  <a:pt x="210" y="621"/>
                </a:lnTo>
                <a:lnTo>
                  <a:pt x="225" y="627"/>
                </a:lnTo>
                <a:lnTo>
                  <a:pt x="241" y="631"/>
                </a:lnTo>
                <a:lnTo>
                  <a:pt x="256" y="634"/>
                </a:lnTo>
                <a:lnTo>
                  <a:pt x="272" y="637"/>
                </a:lnTo>
                <a:lnTo>
                  <a:pt x="288" y="638"/>
                </a:lnTo>
                <a:lnTo>
                  <a:pt x="304" y="641"/>
                </a:lnTo>
                <a:lnTo>
                  <a:pt x="320" y="641"/>
                </a:lnTo>
                <a:lnTo>
                  <a:pt x="335" y="641"/>
                </a:lnTo>
                <a:lnTo>
                  <a:pt x="349" y="639"/>
                </a:lnTo>
                <a:lnTo>
                  <a:pt x="363" y="637"/>
                </a:lnTo>
                <a:lnTo>
                  <a:pt x="377" y="635"/>
                </a:lnTo>
                <a:lnTo>
                  <a:pt x="391" y="633"/>
                </a:lnTo>
                <a:lnTo>
                  <a:pt x="405" y="630"/>
                </a:lnTo>
                <a:lnTo>
                  <a:pt x="417" y="625"/>
                </a:lnTo>
                <a:lnTo>
                  <a:pt x="430" y="621"/>
                </a:lnTo>
                <a:lnTo>
                  <a:pt x="443" y="616"/>
                </a:lnTo>
                <a:lnTo>
                  <a:pt x="456" y="610"/>
                </a:lnTo>
                <a:lnTo>
                  <a:pt x="468" y="604"/>
                </a:lnTo>
                <a:lnTo>
                  <a:pt x="480" y="598"/>
                </a:lnTo>
                <a:lnTo>
                  <a:pt x="491" y="591"/>
                </a:lnTo>
                <a:lnTo>
                  <a:pt x="503" y="584"/>
                </a:lnTo>
                <a:lnTo>
                  <a:pt x="514" y="575"/>
                </a:lnTo>
                <a:lnTo>
                  <a:pt x="525" y="567"/>
                </a:lnTo>
                <a:lnTo>
                  <a:pt x="851" y="892"/>
                </a:lnTo>
                <a:lnTo>
                  <a:pt x="855" y="897"/>
                </a:lnTo>
                <a:lnTo>
                  <a:pt x="860" y="899"/>
                </a:lnTo>
                <a:lnTo>
                  <a:pt x="866" y="901"/>
                </a:lnTo>
                <a:lnTo>
                  <a:pt x="871" y="901"/>
                </a:lnTo>
                <a:lnTo>
                  <a:pt x="878" y="901"/>
                </a:lnTo>
                <a:lnTo>
                  <a:pt x="883" y="899"/>
                </a:lnTo>
                <a:lnTo>
                  <a:pt x="888" y="897"/>
                </a:lnTo>
                <a:lnTo>
                  <a:pt x="893" y="892"/>
                </a:lnTo>
                <a:lnTo>
                  <a:pt x="897" y="888"/>
                </a:lnTo>
                <a:lnTo>
                  <a:pt x="899" y="883"/>
                </a:lnTo>
                <a:lnTo>
                  <a:pt x="901" y="877"/>
                </a:lnTo>
                <a:lnTo>
                  <a:pt x="902" y="871"/>
                </a:lnTo>
                <a:lnTo>
                  <a:pt x="901" y="866"/>
                </a:lnTo>
                <a:lnTo>
                  <a:pt x="899" y="860"/>
                </a:lnTo>
                <a:lnTo>
                  <a:pt x="897" y="855"/>
                </a:lnTo>
                <a:lnTo>
                  <a:pt x="893" y="85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0E0E39-BE23-9F5A-E319-EDCA3D5039A3}"/>
              </a:ext>
            </a:extLst>
          </p:cNvPr>
          <p:cNvSpPr txBox="1"/>
          <p:nvPr/>
        </p:nvSpPr>
        <p:spPr>
          <a:xfrm>
            <a:off x="4435070" y="1599505"/>
            <a:ext cx="61022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Goal :</a:t>
            </a:r>
            <a:r>
              <a:rPr lang="en-US" sz="20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/>
              <a:t>To implement a </a:t>
            </a:r>
            <a:r>
              <a:rPr lang="en-US" sz="2000" b="1" dirty="0"/>
              <a:t>risk assessment model</a:t>
            </a:r>
            <a:r>
              <a:rPr lang="en-US" sz="2000" dirty="0"/>
              <a:t> for a smart home IoT network.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EC8B64-612A-C079-D184-303C7A6FC42B}"/>
              </a:ext>
            </a:extLst>
          </p:cNvPr>
          <p:cNvSpPr txBox="1"/>
          <p:nvPr/>
        </p:nvSpPr>
        <p:spPr>
          <a:xfrm>
            <a:off x="4435070" y="2861086"/>
            <a:ext cx="7137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Methodology :</a:t>
            </a:r>
            <a:r>
              <a:rPr lang="en-US" sz="24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 </a:t>
            </a:r>
            <a:r>
              <a:rPr lang="en-US" sz="2000" dirty="0"/>
              <a:t>Utilizing a </a:t>
            </a:r>
            <a:r>
              <a:rPr lang="en-US" sz="2000" b="1" dirty="0"/>
              <a:t>Bayesian Network (BN)</a:t>
            </a:r>
            <a:r>
              <a:rPr lang="en-US" sz="2000" dirty="0"/>
              <a:t>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AC1454-3864-BFAA-8184-0E01F7D3A78D}"/>
              </a:ext>
            </a:extLst>
          </p:cNvPr>
          <p:cNvSpPr txBox="1"/>
          <p:nvPr/>
        </p:nvSpPr>
        <p:spPr>
          <a:xfrm>
            <a:off x="4435069" y="4062113"/>
            <a:ext cx="71378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Focus : </a:t>
            </a:r>
            <a:r>
              <a:rPr lang="en-US" sz="2000" dirty="0"/>
              <a:t>Quantify the risk of various attacks (especially </a:t>
            </a:r>
            <a:r>
              <a:rPr lang="en-US" sz="2000" b="1" dirty="0"/>
              <a:t>DoS</a:t>
            </a:r>
            <a:r>
              <a:rPr lang="en-US" sz="2000" dirty="0"/>
              <a:t> and </a:t>
            </a:r>
            <a:r>
              <a:rPr lang="en-US" sz="2000" b="1" dirty="0"/>
              <a:t>MitM</a:t>
            </a:r>
            <a:r>
              <a:rPr lang="en-US" sz="2000" dirty="0"/>
              <a:t>) to devices in the </a:t>
            </a:r>
            <a:r>
              <a:rPr lang="en-US" sz="2000" b="1" dirty="0"/>
              <a:t>Field Devices Level</a:t>
            </a:r>
            <a:r>
              <a:rPr lang="en-US" sz="2000" dirty="0"/>
              <a:t> (automation devices) which generally have lower individual security.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579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9FA8-EC22-BE83-05E1-907CB708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90E3C4-2A8F-0502-1B86-BAB30FCEE221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Background: Risk &amp; Modeling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EAFB7E-DADE-2E69-BEB9-8F3D6F21A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3813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D8E9B6-AE5E-52AA-6A16-E7D6AB8FB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63000" y="550891"/>
            <a:ext cx="386753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9B6D4F3E-DCCA-D71E-3DFA-D63B13900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5" y="1292772"/>
            <a:ext cx="10753724" cy="409342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Risk Definition :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000" dirty="0">
                <a:latin typeface="+mj-lt"/>
              </a:rPr>
              <a:t>Risk is defined as the probability of an undesirable event multiplied by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+mj-lt"/>
              </a:rPr>
              <a:t>                           its level of impact.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Traditional Models (Deterministic) : </a:t>
            </a:r>
            <a:r>
              <a:rPr lang="en-US" altLang="en-US" sz="2000" dirty="0">
                <a:latin typeface="+mj-lt"/>
              </a:rPr>
              <a:t>Attack Trees, Petri Nets, and Attack Graphs. Attack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+mj-lt"/>
              </a:rPr>
              <a:t>                                                             graphs describe the network attack process and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+mj-lt"/>
              </a:rPr>
              <a:t>                                                             the paths an attacker can follow.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3"/>
                </a:solidFill>
                <a:latin typeface="+mj-lt"/>
              </a:rPr>
              <a:t>Probabilistic Approach : Bayesian Networks (BNs).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Why BNs??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469E99-B73A-79D3-25DC-7D0B3E8D6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6610" y="2096423"/>
            <a:ext cx="297520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highlight>
                  <a:srgbClr val="FFFF00"/>
                </a:highlight>
                <a:latin typeface="Google Sans Text"/>
              </a:rPr>
              <a:t> Risk  =  Probability * Impac</a:t>
            </a:r>
            <a:r>
              <a:rPr lang="en-US" altLang="en-US" dirty="0">
                <a:solidFill>
                  <a:schemeClr val="accent3"/>
                </a:solidFill>
                <a:highlight>
                  <a:srgbClr val="FFFF00"/>
                </a:highlight>
                <a:latin typeface="Google Sans Text"/>
              </a:rPr>
              <a:t>t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78AC74A-5D21-4B0D-7CE7-1796EE087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601" y="5051673"/>
            <a:ext cx="1091866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Probabilistic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Suitable for modeling uncertainty in cyber security events and attack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Flexibility: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Can combine different sources of knowledge (e.g., expert opinion, simulation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BNs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Probabilistic Graphical Models (PGMs)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represented as a Directed Acyclic Graph (DAG).</a:t>
            </a:r>
          </a:p>
        </p:txBody>
      </p:sp>
    </p:spTree>
    <p:extLst>
      <p:ext uri="{BB962C8B-B14F-4D97-AF65-F5344CB8AC3E}">
        <p14:creationId xmlns:p14="http://schemas.microsoft.com/office/powerpoint/2010/main" val="3112277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63BD3-8C38-D8B0-676B-BB87C9E6A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A4EAD2-2EC8-D6F8-17F1-4DB200521052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Smart Home IoT Network Structure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7349EA-349F-BE6A-0B42-9875B865A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615819" y="522898"/>
            <a:ext cx="33813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C61AE9-4918-CFEF-3F39-DE8D8A437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360160" y="550891"/>
            <a:ext cx="386753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186DD194-7102-3D23-C954-28B6F5F14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1339559"/>
            <a:ext cx="10753724" cy="47089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3"/>
                </a:solidFill>
                <a:latin typeface="+mj-lt"/>
              </a:rPr>
              <a:t>Model Network Levels :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The smart home IoT network structure is divided into four main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                                         levels: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1) </a:t>
            </a:r>
            <a:r>
              <a:rPr lang="en-US" sz="2000" b="1" dirty="0">
                <a:latin typeface="+mj-lt"/>
              </a:rPr>
              <a:t>Access Point (AP) : </a:t>
            </a:r>
            <a:r>
              <a:rPr lang="en-US" sz="2000" dirty="0">
                <a:latin typeface="+mj-lt"/>
              </a:rPr>
              <a:t>Where the attacker is positioned.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2) </a:t>
            </a:r>
            <a:r>
              <a:rPr lang="en-US" sz="2000" b="1" dirty="0">
                <a:latin typeface="+mj-lt"/>
              </a:rPr>
              <a:t>Management Level (M/CP): </a:t>
            </a:r>
            <a:r>
              <a:rPr lang="en-US" sz="2000" dirty="0">
                <a:latin typeface="+mj-lt"/>
              </a:rPr>
              <a:t>Devices like cellphones (CP) that issue orders.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3) </a:t>
            </a:r>
            <a:r>
              <a:rPr lang="en-US" sz="2000" b="1" dirty="0">
                <a:latin typeface="+mj-lt"/>
              </a:rPr>
              <a:t>Router (R): </a:t>
            </a:r>
            <a:r>
              <a:rPr lang="en-US" sz="2000" dirty="0">
                <a:latin typeface="+mj-lt"/>
              </a:rPr>
              <a:t>Connects all devices.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4) </a:t>
            </a:r>
            <a:r>
              <a:rPr lang="en-US" sz="2000" b="1" dirty="0">
                <a:latin typeface="+mj-lt"/>
              </a:rPr>
              <a:t>Field Devices Level (F): </a:t>
            </a:r>
            <a:r>
              <a:rPr lang="en-US" sz="2000" dirty="0">
                <a:latin typeface="+mj-lt"/>
              </a:rPr>
              <a:t>Automation devices such as smart lights, shutters, and cameras (the target of the attack graph)</a:t>
            </a: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0405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0EC6D-4B51-50C8-06DC-514B56837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94D3FC-B72F-2307-A7E2-32CC5B08E0A0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Smart Home IoT Network Structure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0F504C-315B-2672-9E3D-25C9BE0B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615819" y="522898"/>
            <a:ext cx="33813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7A7770-353D-4655-2789-94FD96269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360160" y="550891"/>
            <a:ext cx="386753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0268AE2E-6B31-A81B-993D-86FC52A67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21" y="1054105"/>
            <a:ext cx="10753724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3"/>
                </a:solidFill>
                <a:latin typeface="+mj-lt"/>
              </a:rPr>
              <a:t>Attacks Incorporated :</a:t>
            </a:r>
            <a:endParaRPr lang="en-US" sz="20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9AC4F5-CF59-98BE-8BF1-8E3A46F67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3856" y="1761991"/>
            <a:ext cx="420441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Social Engineering (SE)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Phishing (PH)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Malware Injection (MI)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Denial of Service (DoS)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Routing Table Poisoning (RTP)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Persistent Attack (PA)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Man in the Middle (MitM)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DB1C44-E78E-C20E-3C3D-AAB3DB662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1"/>
          <a:stretch>
            <a:fillRect/>
          </a:stretch>
        </p:blipFill>
        <p:spPr>
          <a:xfrm>
            <a:off x="5513709" y="1054105"/>
            <a:ext cx="6084241" cy="562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711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72070-161B-8221-F0D0-14B1E95EC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96134D-9E29-EAD2-1D2C-6ECCC6DF18DA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BN Construction: From Attack Graph to DAG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7DBAEE-23E0-A4CC-8F99-1FF4430A4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257493" y="494905"/>
            <a:ext cx="33813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A4F74B-B855-6540-AE95-7886F206D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53262" y="513567"/>
            <a:ext cx="386753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1227BEF9-B256-6BC1-3E72-93B4E7931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1548959"/>
            <a:ext cx="10753724" cy="429348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Prerequisite : </a:t>
            </a:r>
            <a:r>
              <a:rPr lang="en-US" sz="2100" dirty="0">
                <a:latin typeface="+mj-lt"/>
              </a:rPr>
              <a:t>An Attack Graph is first defined, detailing all possible paths an attacker can take from the AP to the Field Devices (F).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100" b="1" dirty="0">
              <a:solidFill>
                <a:schemeClr val="accent3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Mapping : </a:t>
            </a:r>
            <a:r>
              <a:rPr lang="en-US" sz="2100" dirty="0">
                <a:latin typeface="+mj-lt"/>
              </a:rPr>
              <a:t>The attack graph's sequential steps and dependencies are directly translated into the BN's DAG structure.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100" b="1" dirty="0">
              <a:solidFill>
                <a:schemeClr val="accent3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BN Nodes (Variables): </a:t>
            </a:r>
            <a:r>
              <a:rPr lang="en-US" sz="2100" dirty="0">
                <a:latin typeface="+mj-lt"/>
              </a:rPr>
              <a:t>Each node is a binary (Bernoulli) random variable: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                               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                                      </a:t>
            </a:r>
            <a:r>
              <a:rPr lang="en-US" sz="2100" b="1" dirty="0">
                <a:latin typeface="+mj-lt"/>
              </a:rPr>
              <a:t>Value 1 : </a:t>
            </a:r>
            <a:r>
              <a:rPr lang="en-US" sz="2100" dirty="0">
                <a:latin typeface="+mj-lt"/>
              </a:rPr>
              <a:t>The attack event occurs</a:t>
            </a:r>
            <a:r>
              <a:rPr lang="en-US" sz="2100" b="1" dirty="0">
                <a:latin typeface="+mj-lt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100" b="1" dirty="0">
              <a:solidFill>
                <a:schemeClr val="accent3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                                      </a:t>
            </a:r>
            <a:r>
              <a:rPr lang="en-US" sz="2100" b="1" dirty="0">
                <a:latin typeface="+mj-lt"/>
              </a:rPr>
              <a:t>Value 0 : </a:t>
            </a:r>
            <a:r>
              <a:rPr lang="en-US" sz="2100" dirty="0">
                <a:latin typeface="+mj-lt"/>
              </a:rPr>
              <a:t>The attack event does not occur</a:t>
            </a:r>
            <a:r>
              <a:rPr lang="en-US" sz="2100" b="1" dirty="0">
                <a:latin typeface="+mj-lt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100" b="1" dirty="0">
              <a:solidFill>
                <a:schemeClr val="accent3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latin typeface="+mj-lt"/>
              </a:rPr>
              <a:t>                                      Example Nodes : </a:t>
            </a:r>
            <a:r>
              <a:rPr lang="en-US" sz="2100" dirty="0">
                <a:latin typeface="+mj-lt"/>
              </a:rPr>
              <a:t>SECP, DOSR, MITMF.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FB2754CC-5907-6EA2-0A2A-C5649C55E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6" y="4077095"/>
            <a:ext cx="2870548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800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3079-C64C-572F-3CD7-AFFD9F2D3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FBE342-58F4-F2D1-4317-DF16D9D3F605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BN Construction: From Attack Graph to DAG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6886707-D7F6-579F-853A-940E49AEE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257493" y="494905"/>
            <a:ext cx="33813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CC13B0-0888-64A3-B46F-EB4AB2CC7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53262" y="513567"/>
            <a:ext cx="386753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29503F08-18E4-04F4-7734-75F26A228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1548959"/>
            <a:ext cx="10753724" cy="429348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Prerequisite : </a:t>
            </a:r>
            <a:r>
              <a:rPr lang="en-US" sz="2100" dirty="0">
                <a:latin typeface="+mj-lt"/>
              </a:rPr>
              <a:t>An Attack Graph is first defined, detailing all possible paths an attacker can take from the AP to the Field Devices (F).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100" b="1" dirty="0">
              <a:solidFill>
                <a:schemeClr val="accent3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Mapping : </a:t>
            </a:r>
            <a:r>
              <a:rPr lang="en-US" sz="2100" dirty="0">
                <a:latin typeface="+mj-lt"/>
              </a:rPr>
              <a:t>The attack graph's sequential steps and dependencies are directly translated into the BN's DAG structure.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100" b="1" dirty="0">
              <a:solidFill>
                <a:schemeClr val="accent3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BN Nodes (Variables): </a:t>
            </a:r>
            <a:r>
              <a:rPr lang="en-US" sz="2100" dirty="0">
                <a:latin typeface="+mj-lt"/>
              </a:rPr>
              <a:t>Each node is a binary (Bernoulli) random variable: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                               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                                      </a:t>
            </a:r>
            <a:r>
              <a:rPr lang="en-US" sz="2100" b="1" dirty="0">
                <a:latin typeface="+mj-lt"/>
              </a:rPr>
              <a:t>Value 1 : </a:t>
            </a:r>
            <a:r>
              <a:rPr lang="en-US" sz="2100" dirty="0">
                <a:latin typeface="+mj-lt"/>
              </a:rPr>
              <a:t>The attack event occurs</a:t>
            </a:r>
            <a:r>
              <a:rPr lang="en-US" sz="2100" b="1" dirty="0">
                <a:latin typeface="+mj-lt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100" b="1" dirty="0">
              <a:solidFill>
                <a:schemeClr val="accent3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                                      </a:t>
            </a:r>
            <a:r>
              <a:rPr lang="en-US" sz="2100" b="1" dirty="0">
                <a:latin typeface="+mj-lt"/>
              </a:rPr>
              <a:t>Value 0 : </a:t>
            </a:r>
            <a:r>
              <a:rPr lang="en-US" sz="2100" dirty="0">
                <a:latin typeface="+mj-lt"/>
              </a:rPr>
              <a:t>The attack event does not occur</a:t>
            </a:r>
            <a:r>
              <a:rPr lang="en-US" sz="2100" b="1" dirty="0">
                <a:latin typeface="+mj-lt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100" b="1" dirty="0">
              <a:solidFill>
                <a:schemeClr val="accent3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latin typeface="+mj-lt"/>
              </a:rPr>
              <a:t>                                      Example Nodes : </a:t>
            </a:r>
            <a:r>
              <a:rPr lang="en-US" sz="2100" dirty="0">
                <a:latin typeface="+mj-lt"/>
              </a:rPr>
              <a:t>SECP, DOSR, MITMF.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FF3ED1C7-CC01-F8E9-A9F5-1A065274C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6" y="4077095"/>
            <a:ext cx="2870548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04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08F1-BBFF-0A5F-DA39-C27B55BA7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A4C1D4-C5B7-F208-F1C9-EFA154B5C6F3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Parameter Estimation and CPTs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0BD124-3D80-3854-889E-63D7DDF79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409893" y="493928"/>
            <a:ext cx="46674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CB73B2-90D6-0168-F0A5-4F43721D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05875" y="513567"/>
            <a:ext cx="514349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0E1BEBC0-AA05-D00F-94C9-CF4E110A3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" y="1622243"/>
            <a:ext cx="11039475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chemeClr val="accent3"/>
                </a:solidFill>
                <a:latin typeface="Google Sans Text"/>
              </a:rPr>
              <a:t>The Data Challenge : </a:t>
            </a:r>
            <a:r>
              <a:rPr lang="en-US" altLang="en-US" sz="2200" dirty="0">
                <a:latin typeface="Google Sans Text"/>
              </a:rPr>
              <a:t>Lack of public, standardized real-world attack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chemeClr val="accent3"/>
                </a:solidFill>
                <a:latin typeface="Google Sans Text"/>
              </a:rPr>
              <a:t>Solution: Simulation: </a:t>
            </a:r>
            <a:r>
              <a:rPr lang="en-US" altLang="en-US" sz="2200" dirty="0">
                <a:latin typeface="Google Sans Text"/>
              </a:rPr>
              <a:t>Attack events are simulated across five distinct scenarios to generate 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Google Sans Text"/>
              </a:rPr>
              <a:t>                                       robust dataset.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solidFill>
                <a:schemeClr val="accent3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chemeClr val="accent3"/>
                </a:solidFill>
                <a:latin typeface="Google Sans Text"/>
              </a:rPr>
              <a:t>Conditional Probability Tables (CPTs): </a:t>
            </a:r>
            <a:r>
              <a:rPr lang="en-US" altLang="en-US" sz="2200" dirty="0">
                <a:latin typeface="Google Sans Text"/>
              </a:rPr>
              <a:t>These tables define the probability of a node being true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Google Sans Text"/>
              </a:rPr>
              <a:t>                                                                     (attack success) given the state of its parent nodes.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solidFill>
                <a:schemeClr val="accent3"/>
              </a:solidFill>
              <a:latin typeface="Google Sans Text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chemeClr val="accent3"/>
                </a:solidFill>
                <a:highlight>
                  <a:srgbClr val="FFFF00"/>
                </a:highlight>
                <a:latin typeface="Google Sans Text"/>
              </a:rPr>
              <a:t>Example: </a:t>
            </a:r>
            <a:r>
              <a:rPr lang="en-US" altLang="en-US" sz="2200" b="1" dirty="0">
                <a:highlight>
                  <a:srgbClr val="FFFF00"/>
                </a:highlight>
                <a:latin typeface="Google Sans Text"/>
              </a:rPr>
              <a:t>P(DOSR | MICP, RTPR)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solidFill>
                <a:schemeClr val="accent3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solidFill>
                  <a:schemeClr val="accent3"/>
                </a:solidFill>
                <a:latin typeface="Google Sans Text"/>
              </a:rPr>
              <a:t>Calculation: </a:t>
            </a:r>
            <a:r>
              <a:rPr lang="en-US" altLang="en-US" sz="2200" dirty="0">
                <a:latin typeface="Google Sans Text"/>
              </a:rPr>
              <a:t>The Maximum Likelihood Method (MLM) is applied to the simulated data to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Google Sans Text"/>
              </a:rPr>
              <a:t>                       accurately approximate the </a:t>
            </a:r>
            <a:r>
              <a:rPr lang="en-US" altLang="en-US" sz="2200" dirty="0" err="1">
                <a:latin typeface="Google Sans Text"/>
              </a:rPr>
              <a:t>CPTs.</a:t>
            </a:r>
            <a:endParaRPr kumimoji="0" lang="en-US" altLang="en-US" sz="22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091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75848-9118-44BC-1115-A63CDB1B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FFD9E5-D515-9BC7-39F5-E270BD5DCD60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Parameter Estimation and CPTs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D95E37-4E4F-AC98-DDE3-C2C291362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409893" y="493928"/>
            <a:ext cx="466744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BEC7B3-D0BC-DC16-7832-137713EF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05875" y="513567"/>
            <a:ext cx="514349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DD890F2F-30B4-89DC-6809-F3D0004EF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4" y="1466924"/>
            <a:ext cx="11039475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Google Sans Text"/>
              </a:rPr>
              <a:t>Inference Goal 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 determine the marginal probability of any node,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                              especially the target attack nodes (e.g., P(DOSF=1)).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1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Google Sans Text"/>
              </a:rPr>
              <a:t>Algorithm 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Junction Tree Algorithm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is used to perform efficient inference calculations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Google Sans Text"/>
              </a:rPr>
              <a:t>                     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within the BN.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100" b="1" dirty="0">
              <a:solidFill>
                <a:schemeClr val="accent3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Google Sans Text"/>
              </a:rPr>
              <a:t>The Power of Evidence 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Google Sans Text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BNs allow for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dynamic risk assessment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If "evidence" 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Google Sans Text"/>
              </a:rPr>
              <a:t>                                            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introduced (e.g., an antivirus system is active, or a specific</a:t>
            </a:r>
            <a:endParaRPr lang="en-US" altLang="en-US" sz="21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                                           phishing attempt succeeded), the BN recalculates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Google Sans Text"/>
              </a:rPr>
              <a:t>                                            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probabilities of 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all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other nodes.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888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430722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Simulation Scenarios &amp; Assumptions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278296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998BDD4-1647-5DB5-F751-2AF22E59E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362" y="1446758"/>
            <a:ext cx="1048527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5 Scenarios Modeled 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reflect different attacker priorities and resource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latin typeface="Arial" panose="020B0604020202020204" pitchFamily="34" charset="0"/>
              </a:rPr>
              <a:t>                                    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allocations.</a:t>
            </a:r>
            <a:endParaRPr lang="en-US" altLang="en-US" sz="2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i="1" dirty="0">
                <a:latin typeface="Arial" panose="020B0604020202020204" pitchFamily="34" charset="0"/>
              </a:rPr>
              <a:t>               </a:t>
            </a:r>
            <a:r>
              <a:rPr kumimoji="0" lang="en-US" altLang="en-US" sz="2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 1: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 (Equal probabilities).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Scenarios 2 &amp; 4: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DoS attacks at the Router/Field Levels.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Scenarios 3 &amp; 5: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MitM attacks at the Router/Field Levels.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Focus Areas 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ultimate risk assessment concentrates on DoS, MitM, and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latin typeface="Arial" panose="020B0604020202020204" pitchFamily="34" charset="0"/>
              </a:rPr>
              <a:t>                      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combined DoS/MitM attack on the Field Devices.</a:t>
            </a: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7E297-083B-E3A1-5AC7-4E44F3E5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37C7264-4E2D-25B9-0519-341298B2F6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3C273B-E744-9AC9-4413-AFB34B344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629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F47439D-5E41-2D3C-91A0-0A3F4B323E26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Quantification of Impact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405B34-2A37-E950-03D0-FB9C3A1FF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485194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04A55116-A2BC-7165-8487-23E48B9FD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169" y="1142744"/>
            <a:ext cx="1044766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Impact Metric</a:t>
            </a:r>
            <a:r>
              <a:rPr lang="en-US" altLang="en-US" sz="2100" b="1" dirty="0">
                <a:solidFill>
                  <a:schemeClr val="accent3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 as the total damage if a specific attack (or combination)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Arial" panose="020B0604020202020204" pitchFamily="34" charset="0"/>
              </a:rPr>
              <a:t>                         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100" b="1" dirty="0">
              <a:solidFill>
                <a:schemeClr val="accent3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100" b="1" dirty="0">
              <a:solidFill>
                <a:schemeClr val="accent3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100" b="1" dirty="0">
              <a:solidFill>
                <a:schemeClr val="accent3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Scoring 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 values (from 0 to 100) are assigned to each attack node based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Arial" panose="020B0604020202020204" pitchFamily="34" charset="0"/>
              </a:rPr>
              <a:t>                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severity (potentially referencing industry standards like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CVSS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100" b="1" dirty="0">
              <a:solidFill>
                <a:schemeClr val="accent3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Total Impact 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Calculated as the sum of the fixed impact values for all nodes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Arial" panose="020B0604020202020204" pitchFamily="34" charset="0"/>
              </a:rPr>
              <a:t>                        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involved in the successful attack path.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CC61E8-3982-880B-9703-716DE4BE1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54" y="2638315"/>
            <a:ext cx="4753638" cy="790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DC229E-CF58-9B42-3563-7A4B91662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97599"/>
            <a:ext cx="5477639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92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3617-08EE-AA0F-1C7B-E5384C777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12BCDFB8-E059-8232-EF7B-7F45E008D2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331963-C407-BC9E-4473-1524DD102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629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60302CD9-36E6-3582-0472-C1DFB9683EFD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Quantitative Risk Results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2E8AC7-F98C-7F8A-AA2D-F078EE2A4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485194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BAABFF0-6983-D3EA-0A38-A38210561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62" y="1805478"/>
            <a:ext cx="10874634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Risk Formula Revisited 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+mj-lt"/>
              </a:rPr>
              <a:t>Risk = P(Attack Success) * I(Attack Impact)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Key Finding 1 :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Dominant Risk: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Denial of Service (DoS) attack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on the Field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+mj-lt"/>
              </a:rPr>
              <a:t>                         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Devices Level presents the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highest quantified risk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across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+mj-lt"/>
              </a:rPr>
              <a:t>                         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majority of scenarios. (Due to high probability of success).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solidFill>
                  <a:schemeClr val="accent3"/>
                </a:solidFill>
                <a:latin typeface="+mj-lt"/>
              </a:rPr>
              <a:t>Key Finding 2 : </a:t>
            </a:r>
            <a:r>
              <a:rPr lang="en-US" sz="2100" dirty="0">
                <a:latin typeface="+mj-lt"/>
              </a:rPr>
              <a:t>The Double Atta</a:t>
            </a:r>
            <a:r>
              <a:rPr lang="en-US" sz="2100" b="1" dirty="0">
                <a:latin typeface="+mj-lt"/>
              </a:rPr>
              <a:t>ck:</a:t>
            </a:r>
            <a:r>
              <a:rPr lang="en-US" sz="2100" dirty="0">
                <a:latin typeface="+mj-lt"/>
              </a:rPr>
              <a:t> The combined </a:t>
            </a:r>
            <a:r>
              <a:rPr lang="en-US" sz="2100" b="1" dirty="0">
                <a:latin typeface="+mj-lt"/>
              </a:rPr>
              <a:t>DoS and MitM attack</a:t>
            </a:r>
            <a:r>
              <a:rPr lang="en-US" sz="2100" dirty="0">
                <a:latin typeface="+mj-lt"/>
              </a:rPr>
              <a:t> has the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100" dirty="0">
                <a:latin typeface="+mj-lt"/>
              </a:rPr>
              <a:t>                          highest impact value</a:t>
            </a:r>
            <a:r>
              <a:rPr lang="en-US" sz="2100" dirty="0"/>
              <a:t>.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02904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A2B07-EC9A-EE09-150A-A652E394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72E1A42-9FA9-FECF-40E0-5000388850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36324A-C348-063E-E3E5-07173BAA1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629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1B0E1326-E9A7-8103-9222-46181AD8D633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Quantitative Risk Results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5A3E14-734C-71FE-2254-ACA0C17B0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485194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>
            <a:extLst>
              <a:ext uri="{FF2B5EF4-FFF2-40B4-BE49-F238E27FC236}">
                <a16:creationId xmlns:a16="http://schemas.microsoft.com/office/drawing/2014/main" id="{B13EE9DA-23E5-46E1-D9C2-BF2863DBA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2" y="998377"/>
            <a:ext cx="4769834" cy="272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157694E0-108F-5F2E-EAA7-C0DA0FABF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64" y="3722915"/>
            <a:ext cx="4838079" cy="2806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2EA6D033-B626-58B5-1C18-6761B52E7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503" y="2198915"/>
            <a:ext cx="52387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146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BB507-889A-9BDE-F640-004C1EF0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90FD343A-A15F-3816-3C49-DF82EAA295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987E0F-DEEF-AFE5-CE01-8FA9847B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8812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A444DDDE-43EB-F93E-A8C0-35025117BCDA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Quantitative Risk Results Analysis 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54005B-F264-9ED8-53AA-A3B6739E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156996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2D6822C8-6E8B-E19C-81B9-2119120CE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992" y="4274915"/>
            <a:ext cx="1092809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Crucial Distinction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its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value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lower than the single DoS attack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                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probability of both attacks succeeding simultaneously 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                             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significantly lower.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Insight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management must prioritize the most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probable and damaging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events, not just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damaging potential events.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AFB146F3-A2A0-D2A8-F7B4-ACD61EF08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940" y="995267"/>
            <a:ext cx="5126199" cy="298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816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12345-76E8-C1D4-727B-2BAC0927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1D25E506-291F-95C9-ABB9-673B321FFCE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A87748-B300-ED3D-BC63-01CD51C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88125" y="980093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5B5F47FD-8DE2-35FD-F740-D68AF280B18A}"/>
              </a:ext>
            </a:extLst>
          </p:cNvPr>
          <p:cNvSpPr txBox="1">
            <a:spLocks/>
          </p:cNvSpPr>
          <p:nvPr/>
        </p:nvSpPr>
        <p:spPr>
          <a:xfrm>
            <a:off x="228600" y="804858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Practical Security Implications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AE2C78-8F23-547D-6432-CA737BF1C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156996" y="970771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DCC8DD8-7501-6244-8210-E0C46F39A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818" y="2090172"/>
            <a:ext cx="106623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Actionable Intelligence 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BN analysis dictates resource allocation.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Recommendation 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Home owners/operators should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mitigation of 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b="1" dirty="0">
                <a:latin typeface="Arial" panose="020B0604020202020204" pitchFamily="34" charset="0"/>
              </a:rPr>
              <a:t>                                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attacks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Field Devices Level (e.g., filtering unusual traffic,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Arial" panose="020B0604020202020204" pitchFamily="34" charset="0"/>
              </a:rPr>
              <a:t>                                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 limiting) over MitM countermeasures.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1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Benefit 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clear, justifiable return on security investment based on quantified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100" dirty="0">
                <a:latin typeface="Arial" panose="020B0604020202020204" pitchFamily="34" charset="0"/>
              </a:rPr>
              <a:t>              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figures.</a:t>
            </a:r>
          </a:p>
        </p:txBody>
      </p:sp>
    </p:spTree>
    <p:extLst>
      <p:ext uri="{BB962C8B-B14F-4D97-AF65-F5344CB8AC3E}">
        <p14:creationId xmlns:p14="http://schemas.microsoft.com/office/powerpoint/2010/main" val="3774321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D56D7-23B4-206C-BEA8-C9B851F7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99D2B1EC-B8B6-4F4C-8214-4A95EBB519D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57FB1E-D93B-CE28-B996-B1CEBE1C0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57699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73986C5-69B1-E940-C9A6-96A5EAE74ACE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Summary &amp; Conclusion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002F42-E7EC-E620-6CDF-9BB31BD20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270587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2D985DC-EA7F-ADFB-3CD1-8BAC16FE7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0" y="1046724"/>
            <a:ext cx="1078618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Core Contribution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Successfully implemented a robust,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quantitative risk assessment methodology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using Bayesian Networks.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Model Success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BN effectively modeled the complex, interdependent nature of cyber attack paths in an IoT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Data Solution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+mj-l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Overcame data scarcity by effectively utilizing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attack simulation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feed the BN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accent3"/>
                </a:solidFill>
                <a:latin typeface="+mj-lt"/>
              </a:rPr>
              <a:t>Limitations :</a:t>
            </a:r>
            <a:r>
              <a:rPr lang="en-US" dirty="0">
                <a:solidFill>
                  <a:schemeClr val="accent3"/>
                </a:solidFill>
                <a:latin typeface="+mj-lt"/>
              </a:rPr>
              <a:t> </a:t>
            </a:r>
            <a:r>
              <a:rPr lang="en-US" dirty="0">
                <a:latin typeface="+mj-lt"/>
                <a:cs typeface="Arial" panose="020B0604020202020204" pitchFamily="34" charset="0"/>
              </a:rPr>
              <a:t>The model's accuracy is dependent on the quality of the simulated data and the defined impact values.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3"/>
                </a:solidFill>
                <a:latin typeface="+mj-lt"/>
              </a:rPr>
              <a:t>Future Research Avenues :</a:t>
            </a:r>
          </a:p>
          <a:p>
            <a:endParaRPr lang="en-US" dirty="0">
              <a:solidFill>
                <a:schemeClr val="accent3"/>
              </a:solidFill>
              <a:latin typeface="+mj-lt"/>
            </a:endParaRPr>
          </a:p>
          <a:p>
            <a:r>
              <a:rPr lang="en-US" dirty="0">
                <a:latin typeface="+mj-lt"/>
              </a:rPr>
              <a:t>Applying the methodology to compare risk differences across various geographical regions (e.g., regulatory environments, common attack patterns).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Expanding the BN to include external factors like physical security compromises or device patching frequency.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175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6AD5F-32C3-86B1-40FB-821A5D9C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7AB26A2B-99C7-D974-53F7-0E9D408034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9DAC0C-724A-C179-325F-3BAB1464E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43192" y="522898"/>
            <a:ext cx="510073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60B0BFDE-54DB-9D71-3547-1291893CCA1B}"/>
              </a:ext>
            </a:extLst>
          </p:cNvPr>
          <p:cNvSpPr txBox="1">
            <a:spLocks/>
          </p:cNvSpPr>
          <p:nvPr/>
        </p:nvSpPr>
        <p:spPr>
          <a:xfrm>
            <a:off x="228600" y="328999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References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DBF9E3-6170-D651-3403-44C82E3F1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130629" y="522898"/>
            <a:ext cx="5028618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336AEC7-1A7D-2C47-9DBD-F1577480AA80}"/>
              </a:ext>
            </a:extLst>
          </p:cNvPr>
          <p:cNvSpPr txBox="1"/>
          <p:nvPr/>
        </p:nvSpPr>
        <p:spPr>
          <a:xfrm>
            <a:off x="496854" y="1339172"/>
            <a:ext cx="1130637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+mj-lt"/>
              <a:buAutoNum type="arabicPeriod"/>
            </a:pPr>
            <a:r>
              <a:rPr lang="en-US" b="1" dirty="0">
                <a:effectLst/>
                <a:latin typeface="+mj-lt"/>
              </a:rPr>
              <a:t>Flores, M.; Heredia, D.; Andrade, R.; Ibrahim, M.</a:t>
            </a:r>
            <a:r>
              <a:rPr lang="en-US" dirty="0">
                <a:effectLst/>
                <a:latin typeface="+mj-lt"/>
              </a:rPr>
              <a:t> Smart Home IoT Network Risk Assessment Using Bayesian Networks. </a:t>
            </a:r>
            <a:r>
              <a:rPr lang="en-US" b="1" i="1" dirty="0">
                <a:effectLst/>
                <a:latin typeface="+mj-lt"/>
              </a:rPr>
              <a:t>Entropy</a:t>
            </a:r>
            <a:r>
              <a:rPr lang="en-US" dirty="0">
                <a:effectLst/>
                <a:latin typeface="+mj-lt"/>
              </a:rPr>
              <a:t> </a:t>
            </a:r>
            <a:r>
              <a:rPr lang="en-US" b="1" dirty="0">
                <a:effectLst/>
                <a:latin typeface="+mj-lt"/>
              </a:rPr>
              <a:t>2022</a:t>
            </a:r>
            <a:r>
              <a:rPr lang="en-US" dirty="0">
                <a:effectLst/>
                <a:latin typeface="+mj-lt"/>
              </a:rPr>
              <a:t>, </a:t>
            </a:r>
            <a:r>
              <a:rPr lang="en-US" i="1" dirty="0">
                <a:effectLst/>
                <a:latin typeface="+mj-lt"/>
              </a:rPr>
              <a:t>24</a:t>
            </a:r>
            <a:r>
              <a:rPr lang="en-US" dirty="0">
                <a:effectLst/>
                <a:latin typeface="+mj-lt"/>
              </a:rPr>
              <a:t>(5), 668.</a:t>
            </a:r>
          </a:p>
          <a:p>
            <a:pPr rtl="0">
              <a:buFont typeface="+mj-lt"/>
              <a:buAutoNum type="arabicPeriod"/>
            </a:pPr>
            <a:endParaRPr lang="en-US" dirty="0">
              <a:effectLst/>
              <a:latin typeface="+mj-lt"/>
            </a:endParaRPr>
          </a:p>
          <a:p>
            <a:pPr rtl="0">
              <a:buFont typeface="+mj-lt"/>
              <a:buAutoNum type="arabicPeriod"/>
            </a:pPr>
            <a:r>
              <a:rPr lang="en-US" dirty="0">
                <a:effectLst/>
                <a:latin typeface="+mj-lt"/>
              </a:rPr>
              <a:t>Rajab, H.; </a:t>
            </a:r>
            <a:r>
              <a:rPr lang="en-US" dirty="0" err="1">
                <a:effectLst/>
                <a:latin typeface="+mj-lt"/>
              </a:rPr>
              <a:t>Cinkelr</a:t>
            </a:r>
            <a:r>
              <a:rPr lang="en-US" dirty="0">
                <a:effectLst/>
                <a:latin typeface="+mj-lt"/>
              </a:rPr>
              <a:t>, T. IoT based smart cities. In </a:t>
            </a:r>
            <a:r>
              <a:rPr lang="en-US" i="1" dirty="0">
                <a:effectLst/>
                <a:latin typeface="+mj-lt"/>
              </a:rPr>
              <a:t>Proceedings of the 2018 International Symposium on Networks, Computers and Communications (ISNCC)</a:t>
            </a:r>
            <a:r>
              <a:rPr lang="en-US" dirty="0">
                <a:effectLst/>
                <a:latin typeface="+mj-lt"/>
              </a:rPr>
              <a:t>, Rome, Italy, 12 November 2018.</a:t>
            </a:r>
          </a:p>
          <a:p>
            <a:pPr rtl="0">
              <a:buFont typeface="+mj-lt"/>
              <a:buAutoNum type="arabicPeriod"/>
            </a:pPr>
            <a:endParaRPr lang="en-US" dirty="0">
              <a:effectLst/>
              <a:latin typeface="+mj-lt"/>
            </a:endParaRPr>
          </a:p>
          <a:p>
            <a:pPr rtl="0">
              <a:buFont typeface="+mj-lt"/>
              <a:buAutoNum type="arabicPeriod"/>
            </a:pPr>
            <a:r>
              <a:rPr lang="en-US" dirty="0">
                <a:effectLst/>
                <a:latin typeface="+mj-lt"/>
              </a:rPr>
              <a:t>Oliva, S.L.; Palmieri, A.; Invidia, L.; </a:t>
            </a:r>
            <a:r>
              <a:rPr lang="en-US" dirty="0" err="1">
                <a:effectLst/>
                <a:latin typeface="+mj-lt"/>
              </a:rPr>
              <a:t>Patrono</a:t>
            </a:r>
            <a:r>
              <a:rPr lang="en-US" dirty="0">
                <a:effectLst/>
                <a:latin typeface="+mj-lt"/>
              </a:rPr>
              <a:t>, L.; Rametta, P. Rapid Prototyping of a Star Topology Network based on Bluetooth Low Energy Technology. In </a:t>
            </a:r>
            <a:r>
              <a:rPr lang="en-US" i="1" dirty="0">
                <a:effectLst/>
                <a:latin typeface="+mj-lt"/>
              </a:rPr>
              <a:t>Proceedings of the 2018 3rd International Conference on Smart and Sustainable Technologies (</a:t>
            </a:r>
            <a:r>
              <a:rPr lang="en-US" i="1" dirty="0" err="1">
                <a:effectLst/>
                <a:latin typeface="+mj-lt"/>
              </a:rPr>
              <a:t>SpliTech</a:t>
            </a:r>
            <a:r>
              <a:rPr lang="en-US" i="1" dirty="0">
                <a:effectLst/>
                <a:latin typeface="+mj-lt"/>
              </a:rPr>
              <a:t>)</a:t>
            </a:r>
            <a:r>
              <a:rPr lang="en-US" dirty="0">
                <a:effectLst/>
                <a:latin typeface="+mj-lt"/>
              </a:rPr>
              <a:t>, Split, Croatia, 26–29 June 2018; pp. 1–6.</a:t>
            </a:r>
          </a:p>
          <a:p>
            <a:pPr rtl="0">
              <a:buFont typeface="+mj-lt"/>
              <a:buAutoNum type="arabicPeriod"/>
            </a:pPr>
            <a:endParaRPr lang="en-US" dirty="0">
              <a:effectLst/>
              <a:latin typeface="+mj-lt"/>
            </a:endParaRPr>
          </a:p>
          <a:p>
            <a:pPr rtl="0">
              <a:buFont typeface="+mj-lt"/>
              <a:buAutoNum type="arabicPeriod"/>
            </a:pPr>
            <a:r>
              <a:rPr lang="en-US" dirty="0">
                <a:effectLst/>
                <a:latin typeface="+mj-lt"/>
              </a:rPr>
              <a:t>Taştan, S.İ.; Dalkiliç, G. Smart Home System Using Internet of Things Devices and Mesh Topology. In </a:t>
            </a:r>
            <a:r>
              <a:rPr lang="en-US" i="1" dirty="0">
                <a:effectLst/>
                <a:latin typeface="+mj-lt"/>
              </a:rPr>
              <a:t>Proceedings of the 2021 6th International Conference on Computer Science and Engineering (UBMK)</a:t>
            </a:r>
            <a:r>
              <a:rPr lang="en-US" dirty="0">
                <a:effectLst/>
                <a:latin typeface="+mj-lt"/>
              </a:rPr>
              <a:t>, Ankara, Turkey, 13 October 2021; pp. 407–412.</a:t>
            </a:r>
          </a:p>
          <a:p>
            <a:pPr rtl="0">
              <a:buFont typeface="+mj-lt"/>
              <a:buAutoNum type="arabicPeriod"/>
            </a:pPr>
            <a:endParaRPr lang="en-US" dirty="0">
              <a:effectLst/>
              <a:latin typeface="+mj-lt"/>
            </a:endParaRPr>
          </a:p>
          <a:p>
            <a:pPr rtl="0">
              <a:buFont typeface="+mj-lt"/>
              <a:buAutoNum type="arabicPeriod"/>
            </a:pPr>
            <a:r>
              <a:rPr lang="en-US" dirty="0">
                <a:effectLst/>
                <a:latin typeface="+mj-lt"/>
              </a:rPr>
              <a:t>Johnson, D.; Ketel, M. IoT: The Interconnection of Smart Cities. In </a:t>
            </a:r>
            <a:r>
              <a:rPr lang="en-US" i="1" dirty="0">
                <a:effectLst/>
                <a:latin typeface="+mj-lt"/>
              </a:rPr>
              <a:t>Proceedings of the 2019 </a:t>
            </a:r>
            <a:r>
              <a:rPr lang="en-US" i="1" dirty="0" err="1">
                <a:effectLst/>
                <a:latin typeface="+mj-lt"/>
              </a:rPr>
              <a:t>SoutheastCon</a:t>
            </a:r>
            <a:r>
              <a:rPr lang="en-US" dirty="0">
                <a:effectLst/>
                <a:latin typeface="+mj-lt"/>
              </a:rPr>
              <a:t>, Huntsville, AL, USA, 11–14 April 2019; pp. 1–2.</a:t>
            </a:r>
          </a:p>
        </p:txBody>
      </p:sp>
    </p:spTree>
    <p:extLst>
      <p:ext uri="{BB962C8B-B14F-4D97-AF65-F5344CB8AC3E}">
        <p14:creationId xmlns:p14="http://schemas.microsoft.com/office/powerpoint/2010/main" val="404423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7E290A-C27C-3956-8C5B-E9925501DCB9}"/>
              </a:ext>
            </a:extLst>
          </p:cNvPr>
          <p:cNvSpPr txBox="1"/>
          <p:nvPr/>
        </p:nvSpPr>
        <p:spPr>
          <a:xfrm>
            <a:off x="2479610" y="2620643"/>
            <a:ext cx="8287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Link to the GitHub repository containing data and the implementation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833BE-CAF8-DD8D-9E39-ED88B86DCFAD}"/>
              </a:ext>
            </a:extLst>
          </p:cNvPr>
          <p:cNvSpPr txBox="1"/>
          <p:nvPr/>
        </p:nvSpPr>
        <p:spPr>
          <a:xfrm>
            <a:off x="5035032" y="3152488"/>
            <a:ext cx="158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  <a:hlinkClick r:id="rId2"/>
              </a:rPr>
              <a:t>Link 🔗🔗</a:t>
            </a:r>
            <a:endParaRPr lang="en-US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60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613</TotalTime>
  <Words>1679</Words>
  <Application>Microsoft Office PowerPoint</Application>
  <PresentationFormat>Widescreen</PresentationFormat>
  <Paragraphs>234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-apple-system</vt:lpstr>
      <vt:lpstr>Arial</vt:lpstr>
      <vt:lpstr>Berlin Sans FB</vt:lpstr>
      <vt:lpstr>Calibri</vt:lpstr>
      <vt:lpstr>Cascadia Code SemiLight</vt:lpstr>
      <vt:lpstr>Century Gothic</vt:lpstr>
      <vt:lpstr>Google Sans Text</vt:lpstr>
      <vt:lpstr>Segoe UI Light</vt:lpstr>
      <vt:lpstr>Office Theme</vt:lpstr>
      <vt:lpstr>PowerPoint Presentation</vt:lpstr>
      <vt:lpstr>PowerPoint Presentation</vt:lpstr>
      <vt:lpstr>Project analysis slide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analysis slide 2</vt:lpstr>
      <vt:lpstr>Project analysis slide 2</vt:lpstr>
      <vt:lpstr>Project analysis slide 2</vt:lpstr>
      <vt:lpstr>Project analysis slide 2</vt:lpstr>
      <vt:lpstr>Project analysis slide 2</vt:lpstr>
      <vt:lpstr>Project analysis slide 2</vt:lpstr>
      <vt:lpstr>Project analysis slide 2</vt:lpstr>
      <vt:lpstr>Project analysis slide 2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Aadi Bhaskaruni</dc:creator>
  <cp:lastModifiedBy>Aadi Bhaskaruni</cp:lastModifiedBy>
  <cp:revision>4</cp:revision>
  <dcterms:created xsi:type="dcterms:W3CDTF">2025-11-14T16:21:54Z</dcterms:created>
  <dcterms:modified xsi:type="dcterms:W3CDTF">2025-11-17T02:07:27Z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